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18"/>
  </p:handoutMasterIdLst>
  <p:sldIdLst>
    <p:sldId id="338" r:id="rId3"/>
    <p:sldId id="327" r:id="rId4"/>
    <p:sldId id="315" r:id="rId5"/>
    <p:sldId id="329" r:id="rId6"/>
    <p:sldId id="302" r:id="rId7"/>
    <p:sldId id="339" r:id="rId9"/>
    <p:sldId id="340" r:id="rId10"/>
    <p:sldId id="344" r:id="rId11"/>
    <p:sldId id="345" r:id="rId12"/>
    <p:sldId id="346"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31"/>
        <p:guide orient="horz" pos="3891"/>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endParaRPr lang="en-US"/>
          </a:p>
          <a:p>
            <a:pPr lvl="1"/>
            <a:r>
              <a:rPr lang="en-US"/>
              <a:t>Second level</a:t>
            </a:r>
            <a:endParaRPr lang="en-US"/>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endParaRPr lang="en-US"/>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endParaRPr lang="en-US"/>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endParaRPr lang="en-US"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endParaRPr lang="en-US" sz="1100" b="1" dirty="0">
              <a:solidFill>
                <a:schemeClr val="accent2"/>
              </a:solidFill>
            </a:endParaRP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9.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hyperlink" Target="https://github.com/deba-biswas/seasonal-agriculture-analysis.git" TargetMode="Externa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20.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675640" y="3424555"/>
            <a:ext cx="8604885" cy="861695"/>
          </a:xfrm>
        </p:spPr>
        <p:txBody>
          <a:bodyPr vert="horz" lIns="91440" tIns="45720" rIns="91440" bIns="45720" rtlCol="0" anchor="t">
            <a:normAutofit/>
          </a:bodyPr>
          <a:lstStyle/>
          <a:p>
            <a:pPr algn="l"/>
            <a:r>
              <a:rPr lang="en-US" b="0" dirty="0">
                <a:solidFill>
                  <a:schemeClr val="tx1"/>
                </a:solidFill>
              </a:rPr>
              <a:t>Student Name - Debangshu Biswas</a:t>
            </a:r>
            <a:endParaRPr lang="en-IN" b="0" dirty="0">
              <a:solidFill>
                <a:schemeClr val="tx1"/>
              </a:solidFill>
            </a:endParaRPr>
          </a:p>
          <a:p>
            <a:pPr algn="l"/>
            <a:r>
              <a:rPr lang="en-US" b="0" dirty="0">
                <a:solidFill>
                  <a:schemeClr val="tx1"/>
                </a:solidFill>
              </a:rPr>
              <a:t>College Name - Sister Nivedita University</a:t>
            </a:r>
            <a:endParaRPr lang="en-IN" b="0" dirty="0">
              <a:solidFill>
                <a:schemeClr val="tx1"/>
              </a:solidFill>
            </a:endParaRPr>
          </a:p>
        </p:txBody>
      </p:sp>
      <p:sp>
        <p:nvSpPr>
          <p:cNvPr id="4" name="Title 3"/>
          <p:cNvSpPr>
            <a:spLocks noGrp="1"/>
          </p:cNvSpPr>
          <p:nvPr>
            <p:ph type="title"/>
          </p:nvPr>
        </p:nvSpPr>
        <p:spPr>
          <a:xfrm>
            <a:off x="675640" y="2694305"/>
            <a:ext cx="10728325" cy="608965"/>
          </a:xfrm>
        </p:spPr>
        <p:txBody>
          <a:bodyPr>
            <a:noAutofit/>
          </a:bodyPr>
          <a:lstStyle/>
          <a:p>
            <a:r>
              <a:rPr lang="en-GB" sz="3200" dirty="0"/>
              <a:t>Project Title -</a:t>
            </a:r>
            <a:r>
              <a:rPr lang="en-US" altLang="en-GB" sz="3200" dirty="0"/>
              <a:t> Seasonal Agriculture Performance Analysis</a:t>
            </a:r>
            <a:endParaRPr lang="en-US" altLang="en-GB" sz="3200" dirty="0"/>
          </a:p>
        </p:txBody>
      </p:sp>
      <p:pic>
        <p:nvPicPr>
          <p:cNvPr id="6" name="Picture 5"/>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3" name="TextBox 2"/>
          <p:cNvSpPr txBox="1"/>
          <p:nvPr/>
        </p:nvSpPr>
        <p:spPr>
          <a:xfrm>
            <a:off x="675640" y="4407535"/>
            <a:ext cx="6264275" cy="398780"/>
          </a:xfrm>
          <a:prstGeom prst="rect">
            <a:avLst/>
          </a:prstGeom>
          <a:noFill/>
        </p:spPr>
        <p:txBody>
          <a:bodyPr wrap="square" rtlCol="0">
            <a:spAutoFit/>
          </a:bodyPr>
          <a:lstStyle/>
          <a:p>
            <a:r>
              <a:rPr lang="en-US" sz="2000" b="1" dirty="0"/>
              <a:t>AICTE STU ID :   STU685f65213eac11751082273</a:t>
            </a:r>
            <a:endParaRPr 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5" dur="500"/>
                                        <p:tgtEl>
                                          <p:spTgt spid="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0"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09295" y="2042795"/>
            <a:ext cx="7086600" cy="3608070"/>
          </a:xfrm>
        </p:spPr>
        <p:txBody>
          <a:bodyPr vert="horz" lIns="91440" tIns="45720" rIns="91440" bIns="45720" rtlCol="0" anchor="t">
            <a:normAutofit fontScale="60000" lnSpcReduction="20000"/>
          </a:bodyPr>
          <a:lstStyle/>
          <a:p>
            <a:pPr algn="just">
              <a:lnSpc>
                <a:spcPct val="150000"/>
              </a:lnSpc>
              <a:buSzPct val="100000"/>
              <a:buFont typeface="Arial" panose="020B0604020202020204" pitchFamily="34" charset="0"/>
              <a:buChar char="•"/>
            </a:pPr>
            <a:r>
              <a:rPr lang="en-US" sz="2800" dirty="0">
                <a:solidFill>
                  <a:schemeClr val="tx1"/>
                </a:solidFill>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US" sz="2800" dirty="0">
              <a:solidFill>
                <a:schemeClr val="tx1"/>
              </a:solidFill>
            </a:endParaRPr>
          </a:p>
        </p:txBody>
      </p:sp>
      <p:sp>
        <p:nvSpPr>
          <p:cNvPr id="4"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p:cNvPicPr>
            <a:picLocks noChangeAspect="1"/>
          </p:cNvPicPr>
          <p:nvPr/>
        </p:nvPicPr>
        <p:blipFill>
          <a:blip r:embed="rId1"/>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75639" y="448978"/>
            <a:ext cx="6276109" cy="830997"/>
          </a:xfrm>
        </p:spPr>
        <p:txBody>
          <a:bodyPr>
            <a:normAutofit/>
          </a:bodyPr>
          <a:lstStyle/>
          <a:p>
            <a:r>
              <a:rPr lang="en-GB" sz="4300" dirty="0"/>
              <a:t>Project Description</a:t>
            </a:r>
            <a:endParaRPr lang="en-IN" sz="4300" dirty="0"/>
          </a:p>
        </p:txBody>
      </p:sp>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2"/>
          <a:stretch>
            <a:fillRect/>
          </a:stretch>
        </p:blipFill>
        <p:spPr>
          <a:xfrm>
            <a:off x="467359" y="6410461"/>
            <a:ext cx="3706253" cy="296092"/>
          </a:xfrm>
          <a:prstGeom prst="rect">
            <a:avLst/>
          </a:prstGeom>
        </p:spPr>
      </p:pic>
      <p:sp>
        <p:nvSpPr>
          <p:cNvPr id="2" name="Text Box 1"/>
          <p:cNvSpPr txBox="1"/>
          <p:nvPr/>
        </p:nvSpPr>
        <p:spPr>
          <a:xfrm>
            <a:off x="616585" y="1583690"/>
            <a:ext cx="9182735" cy="4112895"/>
          </a:xfrm>
          <a:prstGeom prst="rect">
            <a:avLst/>
          </a:prstGeom>
          <a:noFill/>
        </p:spPr>
        <p:txBody>
          <a:bodyPr wrap="square" rtlCol="0">
            <a:spAutoFit/>
          </a:bodyPr>
          <a:p>
            <a:pPr algn="l">
              <a:lnSpc>
                <a:spcPct val="110000"/>
              </a:lnSpc>
            </a:pPr>
            <a:r>
              <a:rPr lang="en-US" sz="1700"/>
              <a:t>Seasonal Agriculture Performance Analysis is a data analytics project that studies agricultural performance across different seasons, crops, regions, and farming conditions.</a:t>
            </a:r>
            <a:endParaRPr lang="en-US" sz="1700"/>
          </a:p>
          <a:p>
            <a:pPr algn="l">
              <a:lnSpc>
                <a:spcPct val="110000"/>
              </a:lnSpc>
            </a:pPr>
            <a:endParaRPr lang="en-US" sz="1700"/>
          </a:p>
          <a:p>
            <a:pPr algn="l">
              <a:lnSpc>
                <a:spcPct val="110000"/>
              </a:lnSpc>
            </a:pPr>
            <a:r>
              <a:rPr lang="en-US" sz="1700"/>
              <a:t>The project uses a structured agricultural dataset to:</a:t>
            </a:r>
            <a:endParaRPr lang="en-US" sz="1700"/>
          </a:p>
          <a:p>
            <a:pPr algn="l">
              <a:lnSpc>
                <a:spcPct val="110000"/>
              </a:lnSpc>
            </a:pPr>
            <a:endParaRPr lang="en-US" sz="1700"/>
          </a:p>
          <a:p>
            <a:pPr marL="285750" indent="-285750" algn="l">
              <a:lnSpc>
                <a:spcPct val="110000"/>
              </a:lnSpc>
              <a:buClr>
                <a:srgbClr val="2E946B"/>
              </a:buClr>
              <a:buFont typeface="Arial" panose="020B0604020202020204" pitchFamily="34" charset="0"/>
              <a:buChar char="•"/>
            </a:pPr>
            <a:r>
              <a:rPr lang="en-US" sz="1700"/>
              <a:t>Clean and prepare raw agricultural data.</a:t>
            </a:r>
            <a:endParaRPr lang="en-US" sz="1700"/>
          </a:p>
          <a:p>
            <a:pPr marL="285750" indent="-285750" algn="l">
              <a:lnSpc>
                <a:spcPct val="110000"/>
              </a:lnSpc>
              <a:buClr>
                <a:srgbClr val="2E946B"/>
              </a:buClr>
              <a:buFont typeface="Arial" panose="020B0604020202020204" pitchFamily="34" charset="0"/>
              <a:buChar char="•"/>
            </a:pPr>
            <a:r>
              <a:rPr lang="en-US" sz="1700"/>
              <a:t>Analyze seasonal variations in crop yield and production.</a:t>
            </a:r>
            <a:endParaRPr lang="en-US" sz="1700"/>
          </a:p>
          <a:p>
            <a:pPr marL="285750" indent="-285750" algn="l">
              <a:lnSpc>
                <a:spcPct val="110000"/>
              </a:lnSpc>
              <a:buClr>
                <a:srgbClr val="2E946B"/>
              </a:buClr>
              <a:buFont typeface="Arial" panose="020B0604020202020204" pitchFamily="34" charset="0"/>
              <a:buChar char="•"/>
            </a:pPr>
            <a:r>
              <a:rPr lang="en-US" sz="1700"/>
              <a:t>Compare revenue, cost, and profit across seasons.</a:t>
            </a:r>
            <a:endParaRPr lang="en-US" sz="1700"/>
          </a:p>
          <a:p>
            <a:pPr marL="285750" indent="-285750" algn="l">
              <a:lnSpc>
                <a:spcPct val="110000"/>
              </a:lnSpc>
              <a:buClr>
                <a:srgbClr val="2E946B"/>
              </a:buClr>
              <a:buFont typeface="Arial" panose="020B0604020202020204" pitchFamily="34" charset="0"/>
              <a:buChar char="•"/>
            </a:pPr>
            <a:r>
              <a:rPr lang="en-US" sz="1700"/>
              <a:t>Study environmental factors such as rainfall, temperature, humidity, and soil moisture.</a:t>
            </a:r>
            <a:endParaRPr lang="en-US" sz="1700"/>
          </a:p>
          <a:p>
            <a:pPr marL="285750" indent="-285750" algn="l">
              <a:lnSpc>
                <a:spcPct val="110000"/>
              </a:lnSpc>
              <a:buClr>
                <a:srgbClr val="2E946B"/>
              </a:buClr>
              <a:buFont typeface="Arial" panose="020B0604020202020204" pitchFamily="34" charset="0"/>
              <a:buChar char="•"/>
            </a:pPr>
            <a:r>
              <a:rPr lang="en-US" sz="1700"/>
              <a:t>Analyze resource utilization including water and fertilizer.</a:t>
            </a:r>
            <a:endParaRPr lang="en-US" sz="1700"/>
          </a:p>
          <a:p>
            <a:pPr marL="285750" indent="-285750" algn="l">
              <a:lnSpc>
                <a:spcPct val="110000"/>
              </a:lnSpc>
              <a:buClr>
                <a:srgbClr val="2E946B"/>
              </a:buClr>
              <a:buFont typeface="Arial" panose="020B0604020202020204" pitchFamily="34" charset="0"/>
              <a:buChar char="•"/>
            </a:pPr>
            <a:r>
              <a:rPr lang="en-US" sz="1700"/>
              <a:t>Compare crop and irrigation performance.</a:t>
            </a:r>
            <a:endParaRPr lang="en-US" sz="1700"/>
          </a:p>
          <a:p>
            <a:pPr marL="285750" indent="-285750" algn="l">
              <a:lnSpc>
                <a:spcPct val="110000"/>
              </a:lnSpc>
              <a:buClr>
                <a:srgbClr val="2E946B"/>
              </a:buClr>
              <a:buFont typeface="Arial" panose="020B0604020202020204" pitchFamily="34" charset="0"/>
              <a:buChar char="•"/>
            </a:pPr>
            <a:r>
              <a:rPr lang="en-US" sz="1700"/>
              <a:t>Identify relationships between environmental conditions and agricultural outcomes.</a:t>
            </a:r>
            <a:endParaRPr lang="en-US" sz="1700"/>
          </a:p>
          <a:p>
            <a:pPr marL="285750" indent="-285750" algn="l">
              <a:lnSpc>
                <a:spcPct val="110000"/>
              </a:lnSpc>
              <a:buClr>
                <a:srgbClr val="2E946B"/>
              </a:buClr>
              <a:buFont typeface="Arial" panose="020B0604020202020204" pitchFamily="34" charset="0"/>
              <a:buChar char="•"/>
            </a:pPr>
            <a:r>
              <a:rPr lang="en-US" sz="1700"/>
              <a:t>Apply statistical techniques to identify significant seasonal differences.</a:t>
            </a:r>
            <a:endParaRPr lang="en-US" sz="1700"/>
          </a:p>
          <a:p>
            <a:pPr marL="285750" indent="-285750" algn="l">
              <a:lnSpc>
                <a:spcPct val="110000"/>
              </a:lnSpc>
              <a:buClr>
                <a:srgbClr val="2E946B"/>
              </a:buClr>
              <a:buFont typeface="Arial" panose="020B0604020202020204" pitchFamily="34" charset="0"/>
              <a:buChar char="•"/>
            </a:pPr>
            <a:r>
              <a:rPr lang="en-US" sz="1700"/>
              <a:t>Generate data-driven insights and recommendations for better agricultural planning.</a:t>
            </a:r>
            <a:endParaRPr lang="en-US" sz="17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19760" y="482600"/>
            <a:ext cx="7824470" cy="802640"/>
          </a:xfrm>
        </p:spPr>
        <p:txBody>
          <a:bodyPr>
            <a:noAutofit/>
          </a:bodyPr>
          <a:lstStyle/>
          <a:p>
            <a:r>
              <a:rPr lang="en-US" sz="4300" dirty="0"/>
              <a:t>WHO ARE THE END USERS?</a:t>
            </a:r>
            <a:endParaRPr lang="en-US" sz="4300" dirty="0"/>
          </a:p>
        </p:txBody>
      </p:sp>
      <p:pic>
        <p:nvPicPr>
          <p:cNvPr id="6" name="Picture 5"/>
          <p:cNvPicPr>
            <a:picLocks noChangeAspect="1"/>
          </p:cNvPicPr>
          <p:nvPr/>
        </p:nvPicPr>
        <p:blipFill>
          <a:blip r:embed="rId1"/>
          <a:stretch>
            <a:fillRect/>
          </a:stretch>
        </p:blipFill>
        <p:spPr>
          <a:xfrm>
            <a:off x="721359" y="6176804"/>
            <a:ext cx="2181225" cy="485775"/>
          </a:xfrm>
          <a:prstGeom prst="rect">
            <a:avLst/>
          </a:prstGeom>
        </p:spPr>
      </p:pic>
      <p:sp>
        <p:nvSpPr>
          <p:cNvPr id="2" name="Text Placeholder 1"/>
          <p:cNvSpPr>
            <a:spLocks noGrp="1"/>
          </p:cNvSpPr>
          <p:nvPr>
            <p:ph type="body" sz="quarter" idx="12"/>
          </p:nvPr>
        </p:nvSpPr>
        <p:spPr>
          <a:xfrm>
            <a:off x="619760" y="1285240"/>
            <a:ext cx="9601835" cy="5039360"/>
          </a:xfrm>
        </p:spPr>
        <p:txBody>
          <a:bodyPr>
            <a:normAutofit fontScale="25000"/>
          </a:bodyPr>
          <a:lstStyle/>
          <a:p>
            <a:pPr algn="just">
              <a:lnSpc>
                <a:spcPct val="80000"/>
              </a:lnSpc>
              <a:buSzPct val="100000"/>
              <a:buFont typeface="Arial" panose="020B0604020202020204" pitchFamily="34" charset="0"/>
              <a:buChar char="•"/>
            </a:pPr>
            <a:r>
              <a:rPr lang="en-IN" sz="6800" b="1" dirty="0">
                <a:solidFill>
                  <a:schemeClr val="tx1"/>
                </a:solidFill>
              </a:rPr>
              <a:t>Farmers</a:t>
            </a:r>
            <a:endParaRPr lang="en-IN" sz="6800" b="1" dirty="0">
              <a:solidFill>
                <a:schemeClr val="tx1"/>
              </a:solidFill>
            </a:endParaRPr>
          </a:p>
          <a:p>
            <a:pPr marL="457200" lvl="1" indent="0" algn="just">
              <a:lnSpc>
                <a:spcPct val="80000"/>
              </a:lnSpc>
              <a:buSzPct val="100000"/>
              <a:buNone/>
            </a:pPr>
            <a:r>
              <a:rPr lang="en-IN" sz="6120" dirty="0">
                <a:solidFill>
                  <a:schemeClr val="tx1"/>
                </a:solidFill>
              </a:rPr>
              <a:t>To understand which seasons, crops, and farming practices provide better productivity and profitability.</a:t>
            </a:r>
            <a:endParaRPr lang="en-IN" sz="6120" dirty="0">
              <a:solidFill>
                <a:schemeClr val="tx1"/>
              </a:solidFill>
            </a:endParaRPr>
          </a:p>
          <a:p>
            <a:pPr algn="just">
              <a:lnSpc>
                <a:spcPct val="80000"/>
              </a:lnSpc>
              <a:buSzPct val="100000"/>
              <a:buFont typeface="Arial" panose="020B0604020202020204" pitchFamily="34" charset="0"/>
              <a:buChar char="•"/>
            </a:pPr>
            <a:r>
              <a:rPr lang="en-IN" sz="6800" b="1" dirty="0">
                <a:solidFill>
                  <a:schemeClr val="tx1"/>
                </a:solidFill>
              </a:rPr>
              <a:t>Agricultural Planners</a:t>
            </a:r>
            <a:r>
              <a:rPr lang="en-US" altLang="en-IN" sz="6800" dirty="0">
                <a:solidFill>
                  <a:schemeClr val="tx1"/>
                </a:solidFill>
              </a:rPr>
              <a:t> </a:t>
            </a:r>
            <a:endParaRPr lang="en-US" altLang="en-IN" sz="6800" dirty="0">
              <a:solidFill>
                <a:schemeClr val="tx1"/>
              </a:solidFill>
            </a:endParaRPr>
          </a:p>
          <a:p>
            <a:pPr marL="457200" lvl="1" indent="0" algn="just">
              <a:lnSpc>
                <a:spcPct val="80000"/>
              </a:lnSpc>
              <a:buSzPct val="100000"/>
              <a:buNone/>
            </a:pPr>
            <a:r>
              <a:rPr lang="en-IN" sz="6120" dirty="0">
                <a:solidFill>
                  <a:schemeClr val="tx1"/>
                </a:solidFill>
              </a:rPr>
              <a:t>To support seasonal crop planning and resource allocation.</a:t>
            </a:r>
            <a:endParaRPr lang="en-IN" sz="6120" dirty="0">
              <a:solidFill>
                <a:schemeClr val="tx1"/>
              </a:solidFill>
            </a:endParaRPr>
          </a:p>
          <a:p>
            <a:pPr algn="just">
              <a:lnSpc>
                <a:spcPct val="80000"/>
              </a:lnSpc>
              <a:buSzPct val="100000"/>
              <a:buFont typeface="Arial" panose="020B0604020202020204" pitchFamily="34" charset="0"/>
              <a:buChar char="•"/>
            </a:pPr>
            <a:r>
              <a:rPr lang="en-IN" sz="6800" b="1" dirty="0">
                <a:solidFill>
                  <a:schemeClr val="tx1"/>
                </a:solidFill>
              </a:rPr>
              <a:t>Government &amp; Agricultural Departments</a:t>
            </a:r>
            <a:endParaRPr lang="en-IN" sz="6800" b="1" dirty="0">
              <a:solidFill>
                <a:schemeClr val="tx1"/>
              </a:solidFill>
            </a:endParaRPr>
          </a:p>
          <a:p>
            <a:pPr marL="457200" lvl="1" indent="0" algn="just">
              <a:lnSpc>
                <a:spcPct val="80000"/>
              </a:lnSpc>
              <a:buSzPct val="100000"/>
              <a:buNone/>
            </a:pPr>
            <a:r>
              <a:rPr lang="en-IN" sz="6120" dirty="0">
                <a:solidFill>
                  <a:schemeClr val="tx1"/>
                </a:solidFill>
              </a:rPr>
              <a:t>To understand regional and seasonal agricultural patterns and support evidence-based planning.</a:t>
            </a:r>
            <a:endParaRPr lang="en-IN" sz="6120" dirty="0">
              <a:solidFill>
                <a:schemeClr val="tx1"/>
              </a:solidFill>
            </a:endParaRPr>
          </a:p>
          <a:p>
            <a:pPr algn="just">
              <a:lnSpc>
                <a:spcPct val="80000"/>
              </a:lnSpc>
              <a:buSzPct val="100000"/>
              <a:buFont typeface="Arial" panose="020B0604020202020204" pitchFamily="34" charset="0"/>
              <a:buChar char="•"/>
            </a:pPr>
            <a:r>
              <a:rPr lang="en-IN" sz="6800" b="1" dirty="0">
                <a:solidFill>
                  <a:schemeClr val="tx1"/>
                </a:solidFill>
              </a:rPr>
              <a:t>Irrigation &amp; Resource Managers</a:t>
            </a:r>
            <a:endParaRPr lang="en-IN" sz="6800" b="1" dirty="0">
              <a:solidFill>
                <a:schemeClr val="tx1"/>
              </a:solidFill>
            </a:endParaRPr>
          </a:p>
          <a:p>
            <a:pPr marL="457200" lvl="1" indent="0" algn="just">
              <a:lnSpc>
                <a:spcPct val="80000"/>
              </a:lnSpc>
              <a:buSzPct val="100000"/>
              <a:buNone/>
            </a:pPr>
            <a:r>
              <a:rPr lang="en-IN" sz="6120" dirty="0">
                <a:solidFill>
                  <a:schemeClr val="tx1"/>
                </a:solidFill>
              </a:rPr>
              <a:t>To identify opportunities for improving water efficiency.</a:t>
            </a:r>
            <a:endParaRPr lang="en-IN" sz="6120" dirty="0">
              <a:solidFill>
                <a:schemeClr val="tx1"/>
              </a:solidFill>
            </a:endParaRPr>
          </a:p>
          <a:p>
            <a:pPr algn="just">
              <a:lnSpc>
                <a:spcPct val="80000"/>
              </a:lnSpc>
              <a:buSzPct val="100000"/>
              <a:buFont typeface="Arial" panose="020B0604020202020204" pitchFamily="34" charset="0"/>
              <a:buChar char="•"/>
            </a:pPr>
            <a:r>
              <a:rPr lang="en-IN" sz="6800" b="1" dirty="0">
                <a:solidFill>
                  <a:schemeClr val="tx1"/>
                </a:solidFill>
              </a:rPr>
              <a:t>Agricultural Researchers</a:t>
            </a:r>
            <a:endParaRPr lang="en-IN" sz="6800" b="1" dirty="0">
              <a:solidFill>
                <a:schemeClr val="tx1"/>
              </a:solidFill>
            </a:endParaRPr>
          </a:p>
          <a:p>
            <a:pPr marL="457200" lvl="1" indent="0" algn="just">
              <a:lnSpc>
                <a:spcPct val="80000"/>
              </a:lnSpc>
              <a:buSzPct val="100000"/>
              <a:buNone/>
            </a:pPr>
            <a:r>
              <a:rPr lang="en-IN" sz="6120" dirty="0">
                <a:solidFill>
                  <a:schemeClr val="tx1"/>
                </a:solidFill>
              </a:rPr>
              <a:t>To investigate relationships between environmental conditions, farming practices, and crop performance.</a:t>
            </a:r>
            <a:endParaRPr lang="en-IN" sz="6120" dirty="0">
              <a:solidFill>
                <a:schemeClr val="tx1"/>
              </a:solidFill>
            </a:endParaRPr>
          </a:p>
          <a:p>
            <a:pPr algn="just">
              <a:lnSpc>
                <a:spcPct val="80000"/>
              </a:lnSpc>
              <a:buSzPct val="100000"/>
              <a:buFont typeface="Arial" panose="020B0604020202020204" pitchFamily="34" charset="0"/>
              <a:buChar char="•"/>
            </a:pPr>
            <a:r>
              <a:rPr lang="en-IN" sz="6800" b="1" dirty="0">
                <a:solidFill>
                  <a:schemeClr val="tx1"/>
                </a:solidFill>
              </a:rPr>
              <a:t>Agribusiness &amp; Supply Chain Organizations</a:t>
            </a:r>
            <a:endParaRPr lang="en-IN" sz="6800" b="1" dirty="0">
              <a:solidFill>
                <a:schemeClr val="tx1"/>
              </a:solidFill>
            </a:endParaRPr>
          </a:p>
          <a:p>
            <a:pPr marL="457200" lvl="1" indent="0" algn="just">
              <a:lnSpc>
                <a:spcPct val="80000"/>
              </a:lnSpc>
              <a:buSzPct val="100000"/>
              <a:buNone/>
            </a:pPr>
            <a:r>
              <a:rPr lang="en-IN" sz="6120" dirty="0">
                <a:solidFill>
                  <a:schemeClr val="tx1"/>
                </a:solidFill>
              </a:rPr>
              <a:t>To understand production and seasonal variations for better planning.</a:t>
            </a:r>
            <a:endParaRPr lang="en-IN" sz="612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Effect transition="in" filter="fade">
                                      <p:cBhvr>
                                        <p:cTn id="26" dur="1000"/>
                                        <p:tgtEl>
                                          <p:spTgt spid="2">
                                            <p:txEl>
                                              <p:pRg st="2" end="2"/>
                                            </p:txEl>
                                          </p:spTgt>
                                        </p:tgtEl>
                                      </p:cBhvr>
                                    </p:animEffect>
                                    <p:anim calcmode="lin" valueType="num">
                                      <p:cBhvr>
                                        <p:cTn id="27"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Effect transition="in" filter="fade">
                                      <p:cBhvr>
                                        <p:cTn id="31" dur="1000"/>
                                        <p:tgtEl>
                                          <p:spTgt spid="2">
                                            <p:txEl>
                                              <p:pRg st="3" end="3"/>
                                            </p:txEl>
                                          </p:spTgt>
                                        </p:tgtEl>
                                      </p:cBhvr>
                                    </p:animEffect>
                                    <p:anim calcmode="lin" valueType="num">
                                      <p:cBhvr>
                                        <p:cTn id="3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
                                            <p:txEl>
                                              <p:pRg st="4" end="4"/>
                                            </p:txEl>
                                          </p:spTgt>
                                        </p:tgtEl>
                                        <p:attrNameLst>
                                          <p:attrName>style.visibility</p:attrName>
                                        </p:attrNameLst>
                                      </p:cBhvr>
                                      <p:to>
                                        <p:strVal val="visible"/>
                                      </p:to>
                                    </p:set>
                                    <p:animEffect transition="in" filter="fade">
                                      <p:cBhvr>
                                        <p:cTn id="38" dur="1000"/>
                                        <p:tgtEl>
                                          <p:spTgt spid="2">
                                            <p:txEl>
                                              <p:pRg st="4" end="4"/>
                                            </p:txEl>
                                          </p:spTgt>
                                        </p:tgtEl>
                                      </p:cBhvr>
                                    </p:animEffect>
                                    <p:anim calcmode="lin" valueType="num">
                                      <p:cBhvr>
                                        <p:cTn id="3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4" end="4"/>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
                                            <p:txEl>
                                              <p:pRg st="5" end="5"/>
                                            </p:txEl>
                                          </p:spTgt>
                                        </p:tgtEl>
                                        <p:attrNameLst>
                                          <p:attrName>style.visibility</p:attrName>
                                        </p:attrNameLst>
                                      </p:cBhvr>
                                      <p:to>
                                        <p:strVal val="visible"/>
                                      </p:to>
                                    </p:set>
                                    <p:animEffect transition="in" filter="fade">
                                      <p:cBhvr>
                                        <p:cTn id="43" dur="1000"/>
                                        <p:tgtEl>
                                          <p:spTgt spid="2">
                                            <p:txEl>
                                              <p:pRg st="5" end="5"/>
                                            </p:txEl>
                                          </p:spTgt>
                                        </p:tgtEl>
                                      </p:cBhvr>
                                    </p:animEffect>
                                    <p:anim calcmode="lin" valueType="num">
                                      <p:cBhvr>
                                        <p:cTn id="44"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
                                            <p:txEl>
                                              <p:pRg st="6" end="6"/>
                                            </p:txEl>
                                          </p:spTgt>
                                        </p:tgtEl>
                                        <p:attrNameLst>
                                          <p:attrName>style.visibility</p:attrName>
                                        </p:attrNameLst>
                                      </p:cBhvr>
                                      <p:to>
                                        <p:strVal val="visible"/>
                                      </p:to>
                                    </p:set>
                                    <p:animEffect transition="in" filter="fade">
                                      <p:cBhvr>
                                        <p:cTn id="50" dur="1000"/>
                                        <p:tgtEl>
                                          <p:spTgt spid="2">
                                            <p:txEl>
                                              <p:pRg st="6" end="6"/>
                                            </p:txEl>
                                          </p:spTgt>
                                        </p:tgtEl>
                                      </p:cBhvr>
                                    </p:animEffect>
                                    <p:anim calcmode="lin" valueType="num">
                                      <p:cBhvr>
                                        <p:cTn id="51"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2" dur="1000" fill="hold"/>
                                        <p:tgtEl>
                                          <p:spTgt spid="2">
                                            <p:txEl>
                                              <p:pRg st="6" end="6"/>
                                            </p:txEl>
                                          </p:spTgt>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
                                            <p:txEl>
                                              <p:pRg st="7" end="7"/>
                                            </p:txEl>
                                          </p:spTgt>
                                        </p:tgtEl>
                                        <p:attrNameLst>
                                          <p:attrName>style.visibility</p:attrName>
                                        </p:attrNameLst>
                                      </p:cBhvr>
                                      <p:to>
                                        <p:strVal val="visible"/>
                                      </p:to>
                                    </p:set>
                                    <p:animEffect transition="in" filter="fade">
                                      <p:cBhvr>
                                        <p:cTn id="55" dur="1000"/>
                                        <p:tgtEl>
                                          <p:spTgt spid="2">
                                            <p:txEl>
                                              <p:pRg st="7" end="7"/>
                                            </p:txEl>
                                          </p:spTgt>
                                        </p:tgtEl>
                                      </p:cBhvr>
                                    </p:animEffect>
                                    <p:anim calcmode="lin" valueType="num">
                                      <p:cBhvr>
                                        <p:cTn id="56"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7"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2">
                                            <p:txEl>
                                              <p:pRg st="8" end="8"/>
                                            </p:txEl>
                                          </p:spTgt>
                                        </p:tgtEl>
                                        <p:attrNameLst>
                                          <p:attrName>style.visibility</p:attrName>
                                        </p:attrNameLst>
                                      </p:cBhvr>
                                      <p:to>
                                        <p:strVal val="visible"/>
                                      </p:to>
                                    </p:set>
                                    <p:animEffect transition="in" filter="fade">
                                      <p:cBhvr>
                                        <p:cTn id="62" dur="1000"/>
                                        <p:tgtEl>
                                          <p:spTgt spid="2">
                                            <p:txEl>
                                              <p:pRg st="8" end="8"/>
                                            </p:txEl>
                                          </p:spTgt>
                                        </p:tgtEl>
                                      </p:cBhvr>
                                    </p:animEffect>
                                    <p:anim calcmode="lin" valueType="num">
                                      <p:cBhvr>
                                        <p:cTn id="63"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64" dur="1000" fill="hold"/>
                                        <p:tgtEl>
                                          <p:spTgt spid="2">
                                            <p:txEl>
                                              <p:pRg st="8" end="8"/>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
                                            <p:txEl>
                                              <p:pRg st="9" end="9"/>
                                            </p:txEl>
                                          </p:spTgt>
                                        </p:tgtEl>
                                        <p:attrNameLst>
                                          <p:attrName>style.visibility</p:attrName>
                                        </p:attrNameLst>
                                      </p:cBhvr>
                                      <p:to>
                                        <p:strVal val="visible"/>
                                      </p:to>
                                    </p:set>
                                    <p:animEffect transition="in" filter="fade">
                                      <p:cBhvr>
                                        <p:cTn id="67" dur="1000"/>
                                        <p:tgtEl>
                                          <p:spTgt spid="2">
                                            <p:txEl>
                                              <p:pRg st="9" end="9"/>
                                            </p:txEl>
                                          </p:spTgt>
                                        </p:tgtEl>
                                      </p:cBhvr>
                                    </p:animEffect>
                                    <p:anim calcmode="lin" valueType="num">
                                      <p:cBhvr>
                                        <p:cTn id="6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6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2">
                                            <p:txEl>
                                              <p:pRg st="10" end="10"/>
                                            </p:txEl>
                                          </p:spTgt>
                                        </p:tgtEl>
                                        <p:attrNameLst>
                                          <p:attrName>style.visibility</p:attrName>
                                        </p:attrNameLst>
                                      </p:cBhvr>
                                      <p:to>
                                        <p:strVal val="visible"/>
                                      </p:to>
                                    </p:set>
                                    <p:animEffect transition="in" filter="fade">
                                      <p:cBhvr>
                                        <p:cTn id="74" dur="1000"/>
                                        <p:tgtEl>
                                          <p:spTgt spid="2">
                                            <p:txEl>
                                              <p:pRg st="10" end="10"/>
                                            </p:txEl>
                                          </p:spTgt>
                                        </p:tgtEl>
                                      </p:cBhvr>
                                    </p:animEffect>
                                    <p:anim calcmode="lin" valueType="num">
                                      <p:cBhvr>
                                        <p:cTn id="7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76" dur="1000" fill="hold"/>
                                        <p:tgtEl>
                                          <p:spTgt spid="2">
                                            <p:txEl>
                                              <p:pRg st="10" end="10"/>
                                            </p:txEl>
                                          </p:spTgt>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
                                            <p:txEl>
                                              <p:pRg st="11" end="11"/>
                                            </p:txEl>
                                          </p:spTgt>
                                        </p:tgtEl>
                                        <p:attrNameLst>
                                          <p:attrName>style.visibility</p:attrName>
                                        </p:attrNameLst>
                                      </p:cBhvr>
                                      <p:to>
                                        <p:strVal val="visible"/>
                                      </p:to>
                                    </p:set>
                                    <p:animEffect transition="in" filter="fade">
                                      <p:cBhvr>
                                        <p:cTn id="79" dur="1000"/>
                                        <p:tgtEl>
                                          <p:spTgt spid="2">
                                            <p:txEl>
                                              <p:pRg st="11" end="11"/>
                                            </p:txEl>
                                          </p:spTgt>
                                        </p:tgtEl>
                                      </p:cBhvr>
                                    </p:animEffect>
                                    <p:anim calcmode="lin" valueType="num">
                                      <p:cBhvr>
                                        <p:cTn id="80"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81"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67359" y="6410461"/>
            <a:ext cx="3706253" cy="296092"/>
          </a:xfrm>
          <a:prstGeom prst="rect">
            <a:avLst/>
          </a:prstGeom>
        </p:spPr>
      </p:pic>
      <p:pic>
        <p:nvPicPr>
          <p:cNvPr id="2" name="Picture 1"/>
          <p:cNvPicPr>
            <a:picLocks noChangeAspect="1"/>
          </p:cNvPicPr>
          <p:nvPr/>
        </p:nvPicPr>
        <p:blipFill>
          <a:blip r:embed="rId2"/>
          <a:stretch>
            <a:fillRect/>
          </a:stretch>
        </p:blipFill>
        <p:spPr>
          <a:xfrm flipH="1">
            <a:off x="50800" y="3820160"/>
            <a:ext cx="1727200" cy="3010024"/>
          </a:xfrm>
          <a:prstGeom prst="rect">
            <a:avLst/>
          </a:prstGeom>
        </p:spPr>
      </p:pic>
      <p:sp>
        <p:nvSpPr>
          <p:cNvPr id="7" name="Text Placeholder 6"/>
          <p:cNvSpPr>
            <a:spLocks noGrp="1"/>
          </p:cNvSpPr>
          <p:nvPr>
            <p:ph type="body" sz="quarter" idx="12"/>
          </p:nvPr>
        </p:nvSpPr>
        <p:spPr>
          <a:xfrm>
            <a:off x="660400" y="1432560"/>
            <a:ext cx="5721350" cy="4404360"/>
          </a:xfrm>
        </p:spPr>
        <p:txBody>
          <a:bodyPr>
            <a:normAutofit fontScale="50000"/>
          </a:bodyPr>
          <a:lstStyle/>
          <a:p>
            <a:pPr marL="457200" lvl="1" indent="0">
              <a:lnSpc>
                <a:spcPct val="120000"/>
              </a:lnSpc>
              <a:buNone/>
            </a:pPr>
            <a:r>
              <a:rPr lang="en-IN" sz="3400" dirty="0">
                <a:solidFill>
                  <a:schemeClr val="tx1"/>
                </a:solidFill>
              </a:rPr>
              <a:t>Programming Language</a:t>
            </a:r>
            <a:r>
              <a:rPr lang="en-US" altLang="en-IN" sz="3400" dirty="0">
                <a:solidFill>
                  <a:schemeClr val="tx1"/>
                </a:solidFill>
              </a:rPr>
              <a:t> : </a:t>
            </a:r>
            <a:r>
              <a:rPr lang="en-IN" sz="3400" dirty="0">
                <a:solidFill>
                  <a:schemeClr val="tx1"/>
                </a:solidFill>
              </a:rPr>
              <a:t> Python</a:t>
            </a:r>
            <a:endParaRPr lang="en-IN" sz="3400" dirty="0">
              <a:solidFill>
                <a:schemeClr val="tx1"/>
              </a:solidFill>
            </a:endParaRPr>
          </a:p>
          <a:p>
            <a:pPr marL="457200" lvl="1" indent="0">
              <a:lnSpc>
                <a:spcPct val="120000"/>
              </a:lnSpc>
              <a:buNone/>
            </a:pPr>
            <a:r>
              <a:rPr lang="en-IN" sz="3400" dirty="0">
                <a:solidFill>
                  <a:schemeClr val="tx1"/>
                </a:solidFill>
              </a:rPr>
              <a:t>Development Environment</a:t>
            </a:r>
            <a:r>
              <a:rPr lang="en-US" altLang="en-IN" sz="3400" dirty="0">
                <a:solidFill>
                  <a:schemeClr val="tx1"/>
                </a:solidFill>
              </a:rPr>
              <a:t> :</a:t>
            </a:r>
            <a:r>
              <a:rPr lang="en-IN" sz="3400" dirty="0">
                <a:solidFill>
                  <a:schemeClr val="tx1"/>
                </a:solidFill>
              </a:rPr>
              <a:t> Jupyter Notebook</a:t>
            </a:r>
            <a:endParaRPr lang="en-IN" sz="3400" dirty="0">
              <a:solidFill>
                <a:schemeClr val="tx1"/>
              </a:solidFill>
            </a:endParaRPr>
          </a:p>
          <a:p>
            <a:pPr marL="457200" lvl="1" indent="0">
              <a:lnSpc>
                <a:spcPct val="120000"/>
              </a:lnSpc>
              <a:buNone/>
            </a:pPr>
            <a:r>
              <a:rPr lang="en-IN" sz="3400" dirty="0">
                <a:solidFill>
                  <a:schemeClr val="tx1"/>
                </a:solidFill>
              </a:rPr>
              <a:t>Libraries</a:t>
            </a:r>
            <a:r>
              <a:rPr lang="en-US" altLang="en-IN" sz="3400" dirty="0">
                <a:solidFill>
                  <a:schemeClr val="tx1"/>
                </a:solidFill>
              </a:rPr>
              <a:t> :</a:t>
            </a:r>
            <a:endParaRPr lang="en-IN" sz="3400" dirty="0">
              <a:solidFill>
                <a:schemeClr val="tx1"/>
              </a:solidFill>
            </a:endParaRPr>
          </a:p>
          <a:p>
            <a:pPr lvl="2">
              <a:lnSpc>
                <a:spcPct val="120000"/>
              </a:lnSpc>
              <a:buSzPct val="100000"/>
              <a:buFont typeface="Arial" panose="020B0604020202020204" pitchFamily="34" charset="0"/>
              <a:buChar char="•"/>
            </a:pPr>
            <a:r>
              <a:rPr lang="en-IN" sz="3400" dirty="0">
                <a:solidFill>
                  <a:schemeClr val="tx1"/>
                </a:solidFill>
              </a:rPr>
              <a:t>Pandas </a:t>
            </a:r>
            <a:r>
              <a:rPr lang="en-US" altLang="en-IN" sz="3400" dirty="0">
                <a:solidFill>
                  <a:schemeClr val="tx1"/>
                </a:solidFill>
              </a:rPr>
              <a:t>-</a:t>
            </a:r>
            <a:r>
              <a:rPr lang="en-IN" sz="3400" dirty="0">
                <a:solidFill>
                  <a:schemeClr val="tx1"/>
                </a:solidFill>
              </a:rPr>
              <a:t> Data manipulation and analysis</a:t>
            </a:r>
            <a:endParaRPr lang="en-IN" sz="3400" dirty="0">
              <a:solidFill>
                <a:schemeClr val="tx1"/>
              </a:solidFill>
            </a:endParaRPr>
          </a:p>
          <a:p>
            <a:pPr lvl="2">
              <a:lnSpc>
                <a:spcPct val="120000"/>
              </a:lnSpc>
              <a:buSzPct val="100000"/>
              <a:buFont typeface="Arial" panose="020B0604020202020204" pitchFamily="34" charset="0"/>
              <a:buChar char="•"/>
            </a:pPr>
            <a:r>
              <a:rPr lang="en-IN" sz="3400" dirty="0">
                <a:solidFill>
                  <a:schemeClr val="tx1"/>
                </a:solidFill>
              </a:rPr>
              <a:t>NumPy </a:t>
            </a:r>
            <a:r>
              <a:rPr lang="en-US" altLang="en-IN" sz="3400" dirty="0">
                <a:solidFill>
                  <a:schemeClr val="tx1"/>
                </a:solidFill>
              </a:rPr>
              <a:t>-</a:t>
            </a:r>
            <a:r>
              <a:rPr lang="en-IN" sz="3400" dirty="0">
                <a:solidFill>
                  <a:schemeClr val="tx1"/>
                </a:solidFill>
              </a:rPr>
              <a:t> Numerical computation</a:t>
            </a:r>
            <a:endParaRPr lang="en-IN" sz="3400" dirty="0">
              <a:solidFill>
                <a:schemeClr val="tx1"/>
              </a:solidFill>
            </a:endParaRPr>
          </a:p>
          <a:p>
            <a:pPr lvl="2">
              <a:lnSpc>
                <a:spcPct val="120000"/>
              </a:lnSpc>
              <a:buSzPct val="100000"/>
              <a:buFont typeface="Arial" panose="020B0604020202020204" pitchFamily="34" charset="0"/>
              <a:buChar char="•"/>
            </a:pPr>
            <a:r>
              <a:rPr lang="en-IN" sz="3400" dirty="0">
                <a:solidFill>
                  <a:schemeClr val="tx1"/>
                </a:solidFill>
              </a:rPr>
              <a:t>Matplotlib </a:t>
            </a:r>
            <a:r>
              <a:rPr lang="en-US" altLang="en-IN" sz="3400" dirty="0">
                <a:solidFill>
                  <a:schemeClr val="tx1"/>
                </a:solidFill>
              </a:rPr>
              <a:t>-</a:t>
            </a:r>
            <a:r>
              <a:rPr lang="en-IN" sz="3400" dirty="0">
                <a:solidFill>
                  <a:schemeClr val="tx1"/>
                </a:solidFill>
              </a:rPr>
              <a:t> Data visualization</a:t>
            </a:r>
            <a:endParaRPr lang="en-IN" sz="3400" dirty="0">
              <a:solidFill>
                <a:schemeClr val="tx1"/>
              </a:solidFill>
            </a:endParaRPr>
          </a:p>
          <a:p>
            <a:pPr lvl="2">
              <a:lnSpc>
                <a:spcPct val="120000"/>
              </a:lnSpc>
              <a:buSzPct val="100000"/>
              <a:buFont typeface="Arial" panose="020B0604020202020204" pitchFamily="34" charset="0"/>
              <a:buChar char="•"/>
            </a:pPr>
            <a:r>
              <a:rPr lang="en-IN" sz="3400" dirty="0">
                <a:solidFill>
                  <a:schemeClr val="tx1"/>
                </a:solidFill>
              </a:rPr>
              <a:t>Seaborn </a:t>
            </a:r>
            <a:r>
              <a:rPr lang="en-US" altLang="en-IN" sz="3400" dirty="0">
                <a:solidFill>
                  <a:schemeClr val="tx1"/>
                </a:solidFill>
              </a:rPr>
              <a:t>-</a:t>
            </a:r>
            <a:r>
              <a:rPr lang="en-IN" sz="3400" dirty="0">
                <a:solidFill>
                  <a:schemeClr val="tx1"/>
                </a:solidFill>
              </a:rPr>
              <a:t> Statistical visualization</a:t>
            </a:r>
            <a:endParaRPr lang="en-IN" sz="3400" dirty="0">
              <a:solidFill>
                <a:schemeClr val="tx1"/>
              </a:solidFill>
            </a:endParaRPr>
          </a:p>
          <a:p>
            <a:pPr lvl="2">
              <a:lnSpc>
                <a:spcPct val="120000"/>
              </a:lnSpc>
              <a:buSzPct val="100000"/>
              <a:buFont typeface="Arial" panose="020B0604020202020204" pitchFamily="34" charset="0"/>
              <a:buChar char="•"/>
            </a:pPr>
            <a:r>
              <a:rPr lang="en-IN" sz="3400" dirty="0">
                <a:solidFill>
                  <a:schemeClr val="tx1"/>
                </a:solidFill>
              </a:rPr>
              <a:t>SciPy </a:t>
            </a:r>
            <a:r>
              <a:rPr lang="en-US" altLang="en-IN" sz="3400" dirty="0">
                <a:solidFill>
                  <a:schemeClr val="tx1"/>
                </a:solidFill>
              </a:rPr>
              <a:t>-</a:t>
            </a:r>
            <a:r>
              <a:rPr lang="en-IN" sz="3400" dirty="0">
                <a:solidFill>
                  <a:schemeClr val="tx1"/>
                </a:solidFill>
              </a:rPr>
              <a:t> Statistical analysis</a:t>
            </a:r>
            <a:endParaRPr lang="en-IN" sz="3400" dirty="0">
              <a:solidFill>
                <a:schemeClr val="tx1"/>
              </a:solidFill>
            </a:endParaRPr>
          </a:p>
          <a:p>
            <a:pPr lvl="2">
              <a:lnSpc>
                <a:spcPct val="120000"/>
              </a:lnSpc>
              <a:buSzPct val="100000"/>
              <a:buFont typeface="Arial" panose="020B0604020202020204" pitchFamily="34" charset="0"/>
              <a:buChar char="•"/>
            </a:pPr>
            <a:r>
              <a:rPr lang="en-IN" sz="3400" dirty="0">
                <a:solidFill>
                  <a:schemeClr val="tx1"/>
                </a:solidFill>
              </a:rPr>
              <a:t>Scikit-learn </a:t>
            </a:r>
            <a:r>
              <a:rPr lang="en-US" altLang="en-IN" sz="3400" dirty="0">
                <a:solidFill>
                  <a:schemeClr val="tx1"/>
                </a:solidFill>
              </a:rPr>
              <a:t>-</a:t>
            </a:r>
            <a:r>
              <a:rPr lang="en-IN" sz="3400" dirty="0">
                <a:solidFill>
                  <a:schemeClr val="tx1"/>
                </a:solidFill>
              </a:rPr>
              <a:t> Machine learning and predictive analysis</a:t>
            </a:r>
            <a:endParaRPr lang="en-IN" sz="3400" dirty="0">
              <a:solidFill>
                <a:schemeClr val="tx1"/>
              </a:solidFill>
            </a:endParaRPr>
          </a:p>
          <a:p>
            <a:pPr lvl="1">
              <a:lnSpc>
                <a:spcPct val="120000"/>
              </a:lnSpc>
              <a:buNone/>
            </a:pPr>
            <a:endParaRPr lang="en-IN" sz="3400" dirty="0">
              <a:solidFill>
                <a:schemeClr val="tx1"/>
              </a:solidFill>
            </a:endParaRPr>
          </a:p>
        </p:txBody>
      </p:sp>
      <p:sp>
        <p:nvSpPr>
          <p:cNvPr id="9" name="Title 8"/>
          <p:cNvSpPr>
            <a:spLocks noGrp="1"/>
          </p:cNvSpPr>
          <p:nvPr>
            <p:ph type="title"/>
          </p:nvPr>
        </p:nvSpPr>
        <p:spPr>
          <a:xfrm>
            <a:off x="660399" y="430567"/>
            <a:ext cx="5306291" cy="847817"/>
          </a:xfrm>
        </p:spPr>
        <p:txBody>
          <a:bodyPr>
            <a:normAutofit/>
          </a:bodyPr>
          <a:lstStyle/>
          <a:p>
            <a:r>
              <a:rPr lang="en-US" dirty="0"/>
              <a:t>Technology Used</a:t>
            </a:r>
            <a:endParaRPr lang="en-US" dirty="0"/>
          </a:p>
        </p:txBody>
      </p:sp>
      <p:sp>
        <p:nvSpPr>
          <p:cNvPr id="4" name="Text Box 3"/>
          <p:cNvSpPr txBox="1"/>
          <p:nvPr/>
        </p:nvSpPr>
        <p:spPr>
          <a:xfrm>
            <a:off x="6200140" y="1432560"/>
            <a:ext cx="4530090" cy="4118610"/>
          </a:xfrm>
          <a:prstGeom prst="rect">
            <a:avLst/>
          </a:prstGeom>
          <a:noFill/>
        </p:spPr>
        <p:txBody>
          <a:bodyPr wrap="square" rtlCol="0">
            <a:spAutoFit/>
          </a:bodyPr>
          <a:p>
            <a:pPr lvl="1">
              <a:lnSpc>
                <a:spcPct val="140000"/>
              </a:lnSpc>
              <a:buNone/>
            </a:pPr>
            <a:r>
              <a:rPr lang="en-IN" sz="1700" dirty="0">
                <a:sym typeface="+mn-ea"/>
              </a:rPr>
              <a:t>Techniques Used</a:t>
            </a:r>
            <a:r>
              <a:rPr lang="en-US" altLang="en-IN" sz="1700" dirty="0">
                <a:sym typeface="+mn-ea"/>
              </a:rPr>
              <a:t> : </a:t>
            </a:r>
            <a:endParaRPr lang="en-IN" sz="1700" dirty="0"/>
          </a:p>
          <a:p>
            <a:pPr marL="1200150" lvl="2" indent="-285750">
              <a:lnSpc>
                <a:spcPct val="140000"/>
              </a:lnSpc>
              <a:buClr>
                <a:srgbClr val="2E946B"/>
              </a:buClr>
              <a:buFont typeface="Arial" panose="020B0604020202020204" pitchFamily="34" charset="0"/>
              <a:buChar char="•"/>
            </a:pPr>
            <a:r>
              <a:rPr lang="en-IN" sz="1700" dirty="0">
                <a:sym typeface="+mn-ea"/>
              </a:rPr>
              <a:t>Data Cleaning</a:t>
            </a:r>
            <a:endParaRPr lang="en-IN" sz="1700" dirty="0"/>
          </a:p>
          <a:p>
            <a:pPr marL="1200150" lvl="2" indent="-285750">
              <a:lnSpc>
                <a:spcPct val="140000"/>
              </a:lnSpc>
              <a:buClr>
                <a:srgbClr val="2E946B"/>
              </a:buClr>
              <a:buFont typeface="Arial" panose="020B0604020202020204" pitchFamily="34" charset="0"/>
              <a:buChar char="•"/>
            </a:pPr>
            <a:r>
              <a:rPr lang="en-IN" sz="1700" dirty="0">
                <a:sym typeface="+mn-ea"/>
              </a:rPr>
              <a:t>Exploratory Data Analysis</a:t>
            </a:r>
            <a:endParaRPr lang="en-IN" sz="1700" dirty="0"/>
          </a:p>
          <a:p>
            <a:pPr marL="1200150" lvl="2" indent="-285750">
              <a:lnSpc>
                <a:spcPct val="140000"/>
              </a:lnSpc>
              <a:buClr>
                <a:srgbClr val="2E946B"/>
              </a:buClr>
              <a:buFont typeface="Arial" panose="020B0604020202020204" pitchFamily="34" charset="0"/>
              <a:buChar char="•"/>
            </a:pPr>
            <a:r>
              <a:rPr lang="en-IN" sz="1700" dirty="0">
                <a:sym typeface="+mn-ea"/>
              </a:rPr>
              <a:t>Descriptive Statistics</a:t>
            </a:r>
            <a:endParaRPr lang="en-IN" sz="1700" dirty="0"/>
          </a:p>
          <a:p>
            <a:pPr marL="1200150" lvl="2" indent="-285750">
              <a:lnSpc>
                <a:spcPct val="140000"/>
              </a:lnSpc>
              <a:buClr>
                <a:srgbClr val="2E946B"/>
              </a:buClr>
              <a:buFont typeface="Arial" panose="020B0604020202020204" pitchFamily="34" charset="0"/>
              <a:buChar char="•"/>
            </a:pPr>
            <a:r>
              <a:rPr lang="en-IN" sz="1700" dirty="0">
                <a:sym typeface="+mn-ea"/>
              </a:rPr>
              <a:t>Correlation Analysis</a:t>
            </a:r>
            <a:endParaRPr lang="en-IN" sz="1700" dirty="0"/>
          </a:p>
          <a:p>
            <a:pPr marL="1200150" lvl="2" indent="-285750">
              <a:lnSpc>
                <a:spcPct val="140000"/>
              </a:lnSpc>
              <a:buClr>
                <a:srgbClr val="2E946B"/>
              </a:buClr>
              <a:buFont typeface="Arial" panose="020B0604020202020204" pitchFamily="34" charset="0"/>
              <a:buChar char="•"/>
            </a:pPr>
            <a:r>
              <a:rPr lang="en-IN" sz="1700" dirty="0">
                <a:sym typeface="+mn-ea"/>
              </a:rPr>
              <a:t>ANOVA</a:t>
            </a:r>
            <a:endParaRPr lang="en-IN" sz="1700" dirty="0"/>
          </a:p>
          <a:p>
            <a:pPr marL="1200150" lvl="2" indent="-285750">
              <a:lnSpc>
                <a:spcPct val="140000"/>
              </a:lnSpc>
              <a:buClr>
                <a:srgbClr val="2E946B"/>
              </a:buClr>
              <a:buFont typeface="Arial" panose="020B0604020202020204" pitchFamily="34" charset="0"/>
              <a:buChar char="•"/>
            </a:pPr>
            <a:r>
              <a:rPr lang="en-IN" sz="1700" dirty="0">
                <a:sym typeface="+mn-ea"/>
              </a:rPr>
              <a:t>Data Visualization</a:t>
            </a:r>
            <a:endParaRPr lang="en-IN" sz="1700" dirty="0"/>
          </a:p>
          <a:p>
            <a:pPr marL="1200150" lvl="2" indent="-285750">
              <a:lnSpc>
                <a:spcPct val="140000"/>
              </a:lnSpc>
              <a:buClr>
                <a:srgbClr val="2E946B"/>
              </a:buClr>
              <a:buFont typeface="Arial" panose="020B0604020202020204" pitchFamily="34" charset="0"/>
              <a:buChar char="•"/>
            </a:pPr>
            <a:r>
              <a:rPr lang="en-IN" sz="1700" dirty="0">
                <a:sym typeface="+mn-ea"/>
              </a:rPr>
              <a:t>Random Forest Regression</a:t>
            </a:r>
            <a:endParaRPr lang="en-IN" sz="1700" dirty="0"/>
          </a:p>
          <a:p>
            <a:pPr marL="742950" lvl="1" indent="-285750">
              <a:lnSpc>
                <a:spcPct val="140000"/>
              </a:lnSpc>
              <a:buNone/>
            </a:pPr>
            <a:r>
              <a:rPr lang="en-IN" sz="1700" dirty="0">
                <a:sym typeface="+mn-ea"/>
              </a:rPr>
              <a:t>Dataset</a:t>
            </a:r>
            <a:r>
              <a:rPr lang="en-US" altLang="en-IN" sz="1700" dirty="0">
                <a:sym typeface="+mn-ea"/>
              </a:rPr>
              <a:t> : </a:t>
            </a:r>
            <a:r>
              <a:rPr lang="en-IN" sz="1700" dirty="0">
                <a:sym typeface="+mn-ea"/>
              </a:rPr>
              <a:t>Seasonal Agriculture</a:t>
            </a:r>
            <a:r>
              <a:rPr lang="en-US" altLang="en-IN" sz="1700" dirty="0">
                <a:sym typeface="+mn-ea"/>
              </a:rPr>
              <a:t> </a:t>
            </a:r>
            <a:r>
              <a:rPr lang="en-IN" sz="1700" dirty="0">
                <a:sym typeface="+mn-ea"/>
              </a:rPr>
              <a:t>Performance Dataset</a:t>
            </a:r>
            <a:endParaRPr lang="en-IN" sz="1700" dirty="0"/>
          </a:p>
          <a:p>
            <a:pPr>
              <a:lnSpc>
                <a:spcPct val="140000"/>
              </a:lnSpc>
            </a:pPr>
            <a:endParaRPr lang="en-US" sz="17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xEl>
                                              <p:pRg st="8" end="8"/>
                                            </p:txEl>
                                          </p:spTgt>
                                        </p:tgtEl>
                                        <p:attrNameLst>
                                          <p:attrName>style.visibility</p:attrName>
                                        </p:attrNameLst>
                                      </p:cBhvr>
                                      <p:to>
                                        <p:strVal val="visible"/>
                                      </p:to>
                                    </p:set>
                                    <p:animEffect transition="in" filter="fade">
                                      <p:cBhvr>
                                        <p:cTn id="54" dur="1000"/>
                                        <p:tgtEl>
                                          <p:spTgt spid="7">
                                            <p:txEl>
                                              <p:pRg st="8" end="8"/>
                                            </p:txEl>
                                          </p:spTgt>
                                        </p:tgtEl>
                                      </p:cBhvr>
                                    </p:animEffect>
                                    <p:anim calcmode="lin" valueType="num">
                                      <p:cBhvr>
                                        <p:cTn id="5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2"/>
          <a:stretch>
            <a:fillRect/>
          </a:stretch>
        </p:blipFill>
        <p:spPr>
          <a:xfrm>
            <a:off x="525145" y="1123950"/>
            <a:ext cx="4591050" cy="2834640"/>
          </a:xfrm>
          <a:prstGeom prst="rect">
            <a:avLst/>
          </a:prstGeom>
          <a:effectLst>
            <a:glow rad="63500">
              <a:schemeClr val="accent1">
                <a:satMod val="175000"/>
                <a:alpha val="40000"/>
              </a:schemeClr>
            </a:glow>
          </a:effectLst>
        </p:spPr>
      </p:pic>
      <p:pic>
        <p:nvPicPr>
          <p:cNvPr id="3" name="Picture 2"/>
          <p:cNvPicPr>
            <a:picLocks noChangeAspect="1"/>
          </p:cNvPicPr>
          <p:nvPr/>
        </p:nvPicPr>
        <p:blipFill>
          <a:blip r:embed="rId3"/>
          <a:stretch>
            <a:fillRect/>
          </a:stretch>
        </p:blipFill>
        <p:spPr>
          <a:xfrm>
            <a:off x="5732780" y="4037330"/>
            <a:ext cx="5034915" cy="2712720"/>
          </a:xfrm>
          <a:prstGeom prst="rect">
            <a:avLst/>
          </a:prstGeom>
          <a:effectLst>
            <a:glow rad="63500">
              <a:schemeClr val="accent1">
                <a:satMod val="175000"/>
                <a:alpha val="40000"/>
              </a:schemeClr>
            </a:glow>
          </a:effectLst>
        </p:spPr>
      </p:pic>
      <p:pic>
        <p:nvPicPr>
          <p:cNvPr id="6" name="Picture 5"/>
          <p:cNvPicPr>
            <a:picLocks noChangeAspect="1"/>
          </p:cNvPicPr>
          <p:nvPr/>
        </p:nvPicPr>
        <p:blipFill>
          <a:blip r:embed="rId4"/>
          <a:stretch>
            <a:fillRect/>
          </a:stretch>
        </p:blipFill>
        <p:spPr>
          <a:xfrm>
            <a:off x="5977255" y="1123950"/>
            <a:ext cx="4545330" cy="2806065"/>
          </a:xfrm>
          <a:prstGeom prst="rect">
            <a:avLst/>
          </a:prstGeom>
          <a:effectLst>
            <a:glow rad="63500">
              <a:schemeClr val="accent1">
                <a:satMod val="175000"/>
                <a:alpha val="40000"/>
              </a:schemeClr>
            </a:glow>
          </a:effectLst>
        </p:spPr>
      </p:pic>
      <p:sp>
        <p:nvSpPr>
          <p:cNvPr id="9" name="Text Box 8"/>
          <p:cNvSpPr txBox="1"/>
          <p:nvPr/>
        </p:nvSpPr>
        <p:spPr>
          <a:xfrm>
            <a:off x="525145" y="4131310"/>
            <a:ext cx="4723765" cy="2168525"/>
          </a:xfrm>
          <a:prstGeom prst="rect">
            <a:avLst/>
          </a:prstGeom>
          <a:noFill/>
        </p:spPr>
        <p:txBody>
          <a:bodyPr wrap="square" rtlCol="0" anchor="t">
            <a:spAutoFit/>
          </a:bodyPr>
          <a:p>
            <a:r>
              <a:rPr lang="en-US" sz="1500"/>
              <a:t>Key Observations :</a:t>
            </a:r>
            <a:endParaRPr lang="en-US" sz="1500"/>
          </a:p>
          <a:p>
            <a:pPr marL="285750" indent="-285750">
              <a:buFont typeface="Arial" panose="020B0604020202020204" pitchFamily="34" charset="0"/>
              <a:buChar char="•"/>
            </a:pPr>
            <a:endParaRPr lang="en-US" sz="1500"/>
          </a:p>
          <a:p>
            <a:pPr marL="285750" indent="-285750">
              <a:buClr>
                <a:srgbClr val="2E946B"/>
              </a:buClr>
              <a:buFont typeface="Arial" panose="020B0604020202020204" pitchFamily="34" charset="0"/>
              <a:buChar char="•"/>
            </a:pPr>
            <a:r>
              <a:rPr lang="en-US" sz="1500"/>
              <a:t>Agricultural performance varies across seasons.</a:t>
            </a:r>
            <a:endParaRPr lang="en-US" sz="1500"/>
          </a:p>
          <a:p>
            <a:pPr marL="285750" indent="-285750">
              <a:buClr>
                <a:srgbClr val="2E946B"/>
              </a:buClr>
              <a:buFont typeface="Arial" panose="020B0604020202020204" pitchFamily="34" charset="0"/>
              <a:buChar char="•"/>
            </a:pPr>
            <a:r>
              <a:rPr lang="en-US" sz="1500"/>
              <a:t>Yield and production show differences between seasonal conditions.</a:t>
            </a:r>
            <a:endParaRPr lang="en-US" sz="1500"/>
          </a:p>
          <a:p>
            <a:pPr marL="285750" indent="-285750">
              <a:buClr>
                <a:srgbClr val="2E946B"/>
              </a:buClr>
              <a:buFont typeface="Arial" panose="020B0604020202020204" pitchFamily="34" charset="0"/>
              <a:buChar char="•"/>
            </a:pPr>
            <a:r>
              <a:rPr lang="en-US" sz="1500"/>
              <a:t>Profitability is influenced by both production and associated costs.</a:t>
            </a:r>
            <a:endParaRPr lang="en-US" sz="1500"/>
          </a:p>
          <a:p>
            <a:pPr marL="285750" indent="-285750">
              <a:buClr>
                <a:srgbClr val="2E946B"/>
              </a:buClr>
              <a:buFont typeface="Arial" panose="020B0604020202020204" pitchFamily="34" charset="0"/>
              <a:buChar char="•"/>
            </a:pPr>
            <a:r>
              <a:rPr lang="en-US" sz="1500"/>
              <a:t>The best-performing season can be identified based on average yield and profit.</a:t>
            </a:r>
            <a:endParaRPr lang="en-US"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2"/>
          <a:stretch>
            <a:fillRect/>
          </a:stretch>
        </p:blipFill>
        <p:spPr>
          <a:xfrm>
            <a:off x="271145" y="1275080"/>
            <a:ext cx="3810000" cy="2517140"/>
          </a:xfrm>
          <a:prstGeom prst="rect">
            <a:avLst/>
          </a:prstGeom>
          <a:effectLst>
            <a:glow rad="63500">
              <a:schemeClr val="accent1">
                <a:satMod val="175000"/>
                <a:alpha val="40000"/>
              </a:schemeClr>
            </a:glow>
          </a:effectLst>
        </p:spPr>
      </p:pic>
      <p:pic>
        <p:nvPicPr>
          <p:cNvPr id="3" name="Picture 2"/>
          <p:cNvPicPr>
            <a:picLocks noChangeAspect="1"/>
          </p:cNvPicPr>
          <p:nvPr/>
        </p:nvPicPr>
        <p:blipFill>
          <a:blip r:embed="rId3"/>
          <a:stretch>
            <a:fillRect/>
          </a:stretch>
        </p:blipFill>
        <p:spPr>
          <a:xfrm>
            <a:off x="4255135" y="1275080"/>
            <a:ext cx="3814445" cy="2519680"/>
          </a:xfrm>
          <a:prstGeom prst="rect">
            <a:avLst/>
          </a:prstGeom>
          <a:effectLst>
            <a:glow rad="63500">
              <a:schemeClr val="accent1">
                <a:satMod val="175000"/>
                <a:alpha val="40000"/>
              </a:schemeClr>
            </a:glow>
          </a:effectLst>
        </p:spPr>
      </p:pic>
      <p:pic>
        <p:nvPicPr>
          <p:cNvPr id="6" name="Picture 5"/>
          <p:cNvPicPr>
            <a:picLocks noChangeAspect="1"/>
          </p:cNvPicPr>
          <p:nvPr/>
        </p:nvPicPr>
        <p:blipFill>
          <a:blip r:embed="rId4"/>
          <a:stretch>
            <a:fillRect/>
          </a:stretch>
        </p:blipFill>
        <p:spPr>
          <a:xfrm>
            <a:off x="8199755" y="1275080"/>
            <a:ext cx="3815080" cy="2520315"/>
          </a:xfrm>
          <a:prstGeom prst="rect">
            <a:avLst/>
          </a:prstGeom>
          <a:effectLst>
            <a:glow rad="63500">
              <a:schemeClr val="accent1">
                <a:satMod val="175000"/>
                <a:alpha val="40000"/>
              </a:schemeClr>
            </a:glow>
          </a:effectLst>
        </p:spPr>
      </p:pic>
      <p:sp>
        <p:nvSpPr>
          <p:cNvPr id="9" name="Text Box 8"/>
          <p:cNvSpPr txBox="1"/>
          <p:nvPr/>
        </p:nvSpPr>
        <p:spPr>
          <a:xfrm>
            <a:off x="477520" y="3987165"/>
            <a:ext cx="4525010" cy="2168525"/>
          </a:xfrm>
          <a:prstGeom prst="rect">
            <a:avLst/>
          </a:prstGeom>
          <a:noFill/>
        </p:spPr>
        <p:txBody>
          <a:bodyPr wrap="square" rtlCol="0" anchor="t">
            <a:spAutoFit/>
          </a:bodyPr>
          <a:p>
            <a:r>
              <a:rPr lang="en-US" sz="1500"/>
              <a:t>Key Observations</a:t>
            </a:r>
            <a:endParaRPr lang="en-US" sz="1500"/>
          </a:p>
          <a:p>
            <a:endParaRPr lang="en-US" sz="1500"/>
          </a:p>
          <a:p>
            <a:pPr marL="285750" indent="-285750">
              <a:buClr>
                <a:srgbClr val="2E946B"/>
              </a:buClr>
              <a:buFont typeface="Arial" panose="020B0604020202020204" pitchFamily="34" charset="0"/>
              <a:buChar char="•"/>
            </a:pPr>
            <a:r>
              <a:rPr lang="en-US" sz="1500"/>
              <a:t>Agricultural performance varies across seasons.</a:t>
            </a:r>
            <a:endParaRPr lang="en-US" sz="1500"/>
          </a:p>
          <a:p>
            <a:pPr marL="285750" indent="-285750">
              <a:buClr>
                <a:srgbClr val="2E946B"/>
              </a:buClr>
              <a:buFont typeface="Arial" panose="020B0604020202020204" pitchFamily="34" charset="0"/>
              <a:buChar char="•"/>
            </a:pPr>
            <a:r>
              <a:rPr lang="en-US" sz="1500"/>
              <a:t>Yield and production show differences between seasonal conditions.</a:t>
            </a:r>
            <a:endParaRPr lang="en-US" sz="1500"/>
          </a:p>
          <a:p>
            <a:pPr marL="285750" indent="-285750">
              <a:buClr>
                <a:srgbClr val="2E946B"/>
              </a:buClr>
              <a:buFont typeface="Arial" panose="020B0604020202020204" pitchFamily="34" charset="0"/>
              <a:buChar char="•"/>
            </a:pPr>
            <a:r>
              <a:rPr lang="en-US" sz="1500"/>
              <a:t>Profitability is influenced by both production and associated costs.</a:t>
            </a:r>
            <a:endParaRPr lang="en-US" sz="1500"/>
          </a:p>
          <a:p>
            <a:pPr marL="285750" indent="-285750">
              <a:buClr>
                <a:srgbClr val="2E946B"/>
              </a:buClr>
              <a:buFont typeface="Arial" panose="020B0604020202020204" pitchFamily="34" charset="0"/>
              <a:buChar char="•"/>
            </a:pPr>
            <a:r>
              <a:rPr lang="en-US" sz="1500"/>
              <a:t>The best-performing season can be identified based on average yield and profit.</a:t>
            </a:r>
            <a:endParaRPr lang="en-US" sz="1500"/>
          </a:p>
        </p:txBody>
      </p:sp>
      <p:pic>
        <p:nvPicPr>
          <p:cNvPr id="16" name="Picture 15"/>
          <p:cNvPicPr>
            <a:picLocks noChangeAspect="1"/>
          </p:cNvPicPr>
          <p:nvPr/>
        </p:nvPicPr>
        <p:blipFill>
          <a:blip r:embed="rId5"/>
          <a:stretch>
            <a:fillRect/>
          </a:stretch>
        </p:blipFill>
        <p:spPr>
          <a:xfrm>
            <a:off x="5565775" y="4220210"/>
            <a:ext cx="6449060" cy="11080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2"/>
          <a:stretch>
            <a:fillRect/>
          </a:stretch>
        </p:blipFill>
        <p:spPr>
          <a:xfrm>
            <a:off x="320675" y="1275080"/>
            <a:ext cx="4585970" cy="2511425"/>
          </a:xfrm>
          <a:prstGeom prst="rect">
            <a:avLst/>
          </a:prstGeom>
          <a:effectLst>
            <a:glow rad="63500">
              <a:schemeClr val="accent1">
                <a:satMod val="175000"/>
                <a:alpha val="40000"/>
              </a:schemeClr>
            </a:glow>
          </a:effectLst>
        </p:spPr>
      </p:pic>
      <p:pic>
        <p:nvPicPr>
          <p:cNvPr id="3" name="Picture 2"/>
          <p:cNvPicPr>
            <a:picLocks noChangeAspect="1"/>
          </p:cNvPicPr>
          <p:nvPr/>
        </p:nvPicPr>
        <p:blipFill>
          <a:blip r:embed="rId3"/>
          <a:stretch>
            <a:fillRect/>
          </a:stretch>
        </p:blipFill>
        <p:spPr>
          <a:xfrm>
            <a:off x="5994400" y="1275080"/>
            <a:ext cx="4585970" cy="2511425"/>
          </a:xfrm>
          <a:prstGeom prst="rect">
            <a:avLst/>
          </a:prstGeom>
          <a:effectLst>
            <a:glow rad="63500">
              <a:schemeClr val="accent1">
                <a:satMod val="175000"/>
                <a:alpha val="40000"/>
              </a:schemeClr>
            </a:glow>
          </a:effectLst>
        </p:spPr>
      </p:pic>
      <p:pic>
        <p:nvPicPr>
          <p:cNvPr id="6" name="Picture 5"/>
          <p:cNvPicPr>
            <a:picLocks noChangeAspect="1"/>
          </p:cNvPicPr>
          <p:nvPr/>
        </p:nvPicPr>
        <p:blipFill>
          <a:blip r:embed="rId4"/>
          <a:stretch>
            <a:fillRect/>
          </a:stretch>
        </p:blipFill>
        <p:spPr>
          <a:xfrm>
            <a:off x="5994400" y="4187190"/>
            <a:ext cx="4751070" cy="2337435"/>
          </a:xfrm>
          <a:prstGeom prst="rect">
            <a:avLst/>
          </a:prstGeom>
          <a:effectLst>
            <a:glow rad="63500">
              <a:schemeClr val="accent1">
                <a:satMod val="175000"/>
                <a:alpha val="40000"/>
              </a:schemeClr>
            </a:glow>
          </a:effectLst>
        </p:spPr>
      </p:pic>
      <p:sp>
        <p:nvSpPr>
          <p:cNvPr id="9" name="Text Box 8"/>
          <p:cNvSpPr txBox="1"/>
          <p:nvPr/>
        </p:nvSpPr>
        <p:spPr>
          <a:xfrm>
            <a:off x="320675" y="4041140"/>
            <a:ext cx="4681855" cy="2168525"/>
          </a:xfrm>
          <a:prstGeom prst="rect">
            <a:avLst/>
          </a:prstGeom>
          <a:noFill/>
        </p:spPr>
        <p:txBody>
          <a:bodyPr wrap="square" rtlCol="0" anchor="t">
            <a:spAutoFit/>
          </a:bodyPr>
          <a:p>
            <a:r>
              <a:rPr lang="en-US" sz="1500"/>
              <a:t>Key Observations</a:t>
            </a:r>
            <a:endParaRPr lang="en-US" sz="1500"/>
          </a:p>
          <a:p>
            <a:endParaRPr lang="en-US" sz="1500"/>
          </a:p>
          <a:p>
            <a:pPr marL="285750" indent="-285750">
              <a:buClr>
                <a:srgbClr val="2E946B"/>
              </a:buClr>
              <a:buFont typeface="Arial" panose="020B0604020202020204" pitchFamily="34" charset="0"/>
              <a:buChar char="•"/>
            </a:pPr>
            <a:r>
              <a:rPr lang="en-US" sz="1500"/>
              <a:t>Water consumption varies across seasons.</a:t>
            </a:r>
            <a:endParaRPr lang="en-US" sz="1500"/>
          </a:p>
          <a:p>
            <a:pPr marL="285750" indent="-285750">
              <a:buClr>
                <a:srgbClr val="2E946B"/>
              </a:buClr>
              <a:buFont typeface="Arial" panose="020B0604020202020204" pitchFamily="34" charset="0"/>
              <a:buChar char="•"/>
            </a:pPr>
            <a:r>
              <a:rPr lang="en-US" sz="1500"/>
              <a:t>Water efficiency provides a better measure of resource utilization than water usage alone.</a:t>
            </a:r>
            <a:endParaRPr lang="en-US" sz="1500"/>
          </a:p>
          <a:p>
            <a:pPr marL="285750" indent="-285750">
              <a:buClr>
                <a:srgbClr val="2E946B"/>
              </a:buClr>
              <a:buFont typeface="Arial" panose="020B0604020202020204" pitchFamily="34" charset="0"/>
              <a:buChar char="•"/>
            </a:pPr>
            <a:r>
              <a:rPr lang="en-US" sz="1500"/>
              <a:t>Different irrigation methods can produce different levels of yield and water efficiency.</a:t>
            </a:r>
            <a:endParaRPr lang="en-US" sz="1500"/>
          </a:p>
          <a:p>
            <a:pPr marL="285750" indent="-285750">
              <a:buClr>
                <a:srgbClr val="2E946B"/>
              </a:buClr>
              <a:buFont typeface="Arial" panose="020B0604020202020204" pitchFamily="34" charset="0"/>
              <a:buChar char="•"/>
            </a:pPr>
            <a:r>
              <a:rPr lang="en-US" sz="1500"/>
              <a:t>Identifying efficient irrigation practices can support sustainable agricultural planning.</a:t>
            </a:r>
            <a:endParaRPr lang="en-US"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2"/>
          <a:stretch>
            <a:fillRect/>
          </a:stretch>
        </p:blipFill>
        <p:spPr>
          <a:xfrm>
            <a:off x="789940" y="1275080"/>
            <a:ext cx="5024120" cy="2981960"/>
          </a:xfrm>
          <a:prstGeom prst="rect">
            <a:avLst/>
          </a:prstGeom>
          <a:effectLst>
            <a:glow rad="63500">
              <a:schemeClr val="accent1">
                <a:satMod val="175000"/>
                <a:alpha val="40000"/>
              </a:schemeClr>
            </a:glow>
          </a:effectLst>
        </p:spPr>
      </p:pic>
      <p:sp>
        <p:nvSpPr>
          <p:cNvPr id="6" name="Text Box 5"/>
          <p:cNvSpPr txBox="1"/>
          <p:nvPr/>
        </p:nvSpPr>
        <p:spPr>
          <a:xfrm>
            <a:off x="789940" y="4330700"/>
            <a:ext cx="5076190" cy="2399665"/>
          </a:xfrm>
          <a:prstGeom prst="rect">
            <a:avLst/>
          </a:prstGeom>
          <a:noFill/>
        </p:spPr>
        <p:txBody>
          <a:bodyPr wrap="square" rtlCol="0" anchor="t">
            <a:spAutoFit/>
          </a:bodyPr>
          <a:p>
            <a:r>
              <a:rPr lang="en-US" sz="1500"/>
              <a:t>Key Observations</a:t>
            </a:r>
            <a:endParaRPr lang="en-US" sz="1500"/>
          </a:p>
          <a:p>
            <a:endParaRPr lang="en-US" sz="1500"/>
          </a:p>
          <a:p>
            <a:pPr marL="285750" indent="-285750">
              <a:buClr>
                <a:srgbClr val="2E946B"/>
              </a:buClr>
              <a:buFont typeface="Arial" panose="020B0604020202020204" pitchFamily="34" charset="0"/>
              <a:buChar char="•"/>
            </a:pPr>
            <a:r>
              <a:rPr lang="en-US" sz="1500"/>
              <a:t>Economic performance differs across seasons and crops.</a:t>
            </a:r>
            <a:endParaRPr lang="en-US" sz="1500"/>
          </a:p>
          <a:p>
            <a:pPr marL="285750" indent="-285750">
              <a:buClr>
                <a:srgbClr val="2E946B"/>
              </a:buClr>
              <a:buFont typeface="Arial" panose="020B0604020202020204" pitchFamily="34" charset="0"/>
              <a:buChar char="•"/>
            </a:pPr>
            <a:r>
              <a:rPr lang="en-US" sz="1500"/>
              <a:t>Higher production does not necessarily guarantee higher profitability.</a:t>
            </a:r>
            <a:endParaRPr lang="en-US" sz="1500"/>
          </a:p>
          <a:p>
            <a:pPr marL="285750" indent="-285750">
              <a:buClr>
                <a:srgbClr val="2E946B"/>
              </a:buClr>
              <a:buFont typeface="Arial" panose="020B0604020202020204" pitchFamily="34" charset="0"/>
              <a:buChar char="•"/>
            </a:pPr>
            <a:r>
              <a:rPr lang="en-US" sz="1500"/>
              <a:t>Profit depends on the relationship between revenue and total production cost.</a:t>
            </a:r>
            <a:endParaRPr lang="en-US" sz="1500"/>
          </a:p>
          <a:p>
            <a:pPr marL="285750" indent="-285750">
              <a:buClr>
                <a:srgbClr val="2E946B"/>
              </a:buClr>
              <a:buFont typeface="Arial" panose="020B0604020202020204" pitchFamily="34" charset="0"/>
              <a:buChar char="•"/>
            </a:pPr>
            <a:r>
              <a:rPr lang="en-US" sz="1500"/>
              <a:t>Profit margin provides an additional measure of economic efficiency.</a:t>
            </a:r>
            <a:endParaRPr lang="en-US" sz="1500"/>
          </a:p>
        </p:txBody>
      </p:sp>
      <p:sp>
        <p:nvSpPr>
          <p:cNvPr id="9" name="Text Box 8"/>
          <p:cNvSpPr txBox="1"/>
          <p:nvPr/>
        </p:nvSpPr>
        <p:spPr>
          <a:xfrm>
            <a:off x="6561455" y="4677410"/>
            <a:ext cx="4147820" cy="1706880"/>
          </a:xfrm>
          <a:prstGeom prst="rect">
            <a:avLst/>
          </a:prstGeom>
          <a:noFill/>
        </p:spPr>
        <p:txBody>
          <a:bodyPr wrap="square" rtlCol="0" anchor="t">
            <a:spAutoFit/>
          </a:bodyPr>
          <a:p>
            <a:pPr marL="285750" indent="-285750">
              <a:buClr>
                <a:srgbClr val="2E946B"/>
              </a:buClr>
              <a:buFont typeface="Arial" panose="020B0604020202020204" pitchFamily="34" charset="0"/>
              <a:buChar char="•"/>
            </a:pPr>
            <a:r>
              <a:rPr lang="en-US" sz="1500"/>
              <a:t>Total Farms: 4000</a:t>
            </a:r>
            <a:endParaRPr lang="en-US" sz="1500"/>
          </a:p>
          <a:p>
            <a:pPr marL="285750" indent="-285750">
              <a:buClr>
                <a:srgbClr val="2E946B"/>
              </a:buClr>
              <a:buFont typeface="Arial" panose="020B0604020202020204" pitchFamily="34" charset="0"/>
              <a:buChar char="•"/>
            </a:pPr>
            <a:endParaRPr lang="en-US" sz="1500"/>
          </a:p>
          <a:p>
            <a:pPr marL="285750" indent="-285750">
              <a:buClr>
                <a:srgbClr val="2E946B"/>
              </a:buClr>
              <a:buFont typeface="Arial" panose="020B0604020202020204" pitchFamily="34" charset="0"/>
              <a:buChar char="•"/>
            </a:pPr>
            <a:r>
              <a:rPr lang="en-US" sz="1500"/>
              <a:t>Most Profitable Season: Kharif</a:t>
            </a:r>
            <a:endParaRPr lang="en-US" sz="1500"/>
          </a:p>
          <a:p>
            <a:pPr marL="285750" indent="-285750">
              <a:buClr>
                <a:srgbClr val="2E946B"/>
              </a:buClr>
              <a:buFont typeface="Arial" panose="020B0604020202020204" pitchFamily="34" charset="0"/>
              <a:buChar char="•"/>
            </a:pPr>
            <a:endParaRPr lang="en-US" sz="1500"/>
          </a:p>
          <a:p>
            <a:pPr marL="285750" indent="-285750">
              <a:buClr>
                <a:srgbClr val="2E946B"/>
              </a:buClr>
              <a:buFont typeface="Arial" panose="020B0604020202020204" pitchFamily="34" charset="0"/>
              <a:buChar char="•"/>
            </a:pPr>
            <a:r>
              <a:rPr lang="en-US" sz="1500"/>
              <a:t>Most Profitable Crop: Sugarcane</a:t>
            </a:r>
            <a:endParaRPr lang="en-US" sz="1500"/>
          </a:p>
          <a:p>
            <a:pPr marL="285750" indent="-285750">
              <a:buClr>
                <a:srgbClr val="2E946B"/>
              </a:buClr>
              <a:buFont typeface="Arial" panose="020B0604020202020204" pitchFamily="34" charset="0"/>
              <a:buChar char="•"/>
            </a:pPr>
            <a:endParaRPr lang="en-US" sz="1500"/>
          </a:p>
          <a:p>
            <a:pPr marL="285750" indent="-285750">
              <a:buClr>
                <a:srgbClr val="2E946B"/>
              </a:buClr>
              <a:buFont typeface="Arial" panose="020B0604020202020204" pitchFamily="34" charset="0"/>
              <a:buChar char="•"/>
            </a:pPr>
            <a:r>
              <a:rPr lang="en-US" sz="1500"/>
              <a:t>Loss-Making Farms: 1966</a:t>
            </a:r>
            <a:endParaRPr lang="en-US" sz="1500"/>
          </a:p>
        </p:txBody>
      </p:sp>
      <p:pic>
        <p:nvPicPr>
          <p:cNvPr id="10" name="Picture 9"/>
          <p:cNvPicPr>
            <a:picLocks noChangeAspect="1"/>
          </p:cNvPicPr>
          <p:nvPr/>
        </p:nvPicPr>
        <p:blipFill>
          <a:blip r:embed="rId3"/>
          <a:stretch>
            <a:fillRect/>
          </a:stretch>
        </p:blipFill>
        <p:spPr>
          <a:xfrm>
            <a:off x="6561455" y="1201420"/>
            <a:ext cx="5069205" cy="3129915"/>
          </a:xfrm>
          <a:prstGeom prst="rect">
            <a:avLst/>
          </a:prstGeom>
          <a:effectLst>
            <a:glow rad="63500">
              <a:schemeClr val="accent1">
                <a:satMod val="175000"/>
                <a:alpha val="40000"/>
              </a:schemeClr>
            </a:glo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2"/>
          <a:stretch>
            <a:fillRect/>
          </a:stretch>
        </p:blipFill>
        <p:spPr>
          <a:xfrm>
            <a:off x="1143635" y="1410970"/>
            <a:ext cx="5142865" cy="3052445"/>
          </a:xfrm>
          <a:prstGeom prst="rect">
            <a:avLst/>
          </a:prstGeom>
          <a:effectLst>
            <a:glow rad="63500">
              <a:schemeClr val="accent1">
                <a:satMod val="175000"/>
                <a:alpha val="40000"/>
              </a:schemeClr>
            </a:glow>
          </a:effectLst>
        </p:spPr>
      </p:pic>
      <p:pic>
        <p:nvPicPr>
          <p:cNvPr id="9" name="Picture 8"/>
          <p:cNvPicPr>
            <a:picLocks noChangeAspect="1"/>
          </p:cNvPicPr>
          <p:nvPr/>
        </p:nvPicPr>
        <p:blipFill>
          <a:blip r:embed="rId3"/>
          <a:stretch>
            <a:fillRect/>
          </a:stretch>
        </p:blipFill>
        <p:spPr>
          <a:xfrm>
            <a:off x="6531610" y="1421130"/>
            <a:ext cx="4798695" cy="3042285"/>
          </a:xfrm>
          <a:prstGeom prst="rect">
            <a:avLst/>
          </a:prstGeom>
          <a:effectLst>
            <a:glow rad="63500">
              <a:schemeClr val="accent1">
                <a:satMod val="175000"/>
                <a:alpha val="40000"/>
              </a:schemeClr>
            </a:glow>
          </a:effectLst>
        </p:spPr>
      </p:pic>
      <p:sp>
        <p:nvSpPr>
          <p:cNvPr id="11" name="Text Box 10"/>
          <p:cNvSpPr txBox="1"/>
          <p:nvPr/>
        </p:nvSpPr>
        <p:spPr>
          <a:xfrm>
            <a:off x="675640" y="4672965"/>
            <a:ext cx="6368415" cy="1614805"/>
          </a:xfrm>
          <a:prstGeom prst="rect">
            <a:avLst/>
          </a:prstGeom>
          <a:noFill/>
        </p:spPr>
        <p:txBody>
          <a:bodyPr wrap="square" rtlCol="0">
            <a:spAutoFit/>
          </a:bodyPr>
          <a:p>
            <a:pPr algn="l">
              <a:lnSpc>
                <a:spcPct val="110000"/>
              </a:lnSpc>
            </a:pPr>
            <a:r>
              <a:rPr lang="en-US" sz="1500"/>
              <a:t>Key Observations</a:t>
            </a:r>
            <a:endParaRPr lang="en-US" sz="1500"/>
          </a:p>
          <a:p>
            <a:pPr marL="285750" indent="-285750" algn="l">
              <a:lnSpc>
                <a:spcPct val="110000"/>
              </a:lnSpc>
              <a:buClr>
                <a:srgbClr val="2E946B"/>
              </a:buClr>
              <a:buFont typeface="Arial" panose="020B0604020202020204" pitchFamily="34" charset="0"/>
              <a:buChar char="•"/>
            </a:pPr>
            <a:r>
              <a:rPr lang="en-US" sz="1500"/>
              <a:t>Crop productivity varies across different crops.</a:t>
            </a:r>
            <a:endParaRPr lang="en-US" sz="1500"/>
          </a:p>
          <a:p>
            <a:pPr marL="285750" indent="-285750" algn="l">
              <a:lnSpc>
                <a:spcPct val="110000"/>
              </a:lnSpc>
              <a:buClr>
                <a:srgbClr val="2E946B"/>
              </a:buClr>
              <a:buFont typeface="Arial" panose="020B0604020202020204" pitchFamily="34" charset="0"/>
              <a:buChar char="•"/>
            </a:pPr>
            <a:r>
              <a:rPr lang="en-US" sz="1500"/>
              <a:t>Regional differences can be observed in agricultural performance.</a:t>
            </a:r>
            <a:endParaRPr lang="en-US" sz="1500"/>
          </a:p>
          <a:p>
            <a:pPr marL="285750" indent="-285750" algn="l">
              <a:lnSpc>
                <a:spcPct val="110000"/>
              </a:lnSpc>
              <a:buClr>
                <a:srgbClr val="2E946B"/>
              </a:buClr>
              <a:buFont typeface="Arial" panose="020B0604020202020204" pitchFamily="34" charset="0"/>
              <a:buChar char="•"/>
            </a:pPr>
            <a:r>
              <a:rPr lang="en-US" sz="1500"/>
              <a:t>Some crops may perform better under particular seasonal conditions.</a:t>
            </a:r>
            <a:endParaRPr lang="en-US" sz="1500"/>
          </a:p>
          <a:p>
            <a:pPr marL="285750" indent="-285750" algn="l">
              <a:lnSpc>
                <a:spcPct val="110000"/>
              </a:lnSpc>
              <a:buClr>
                <a:srgbClr val="2E946B"/>
              </a:buClr>
              <a:buFont typeface="Arial" panose="020B0604020202020204" pitchFamily="34" charset="0"/>
              <a:buChar char="•"/>
            </a:pPr>
            <a:r>
              <a:rPr lang="en-US" sz="1500"/>
              <a:t>Comparing crops across seasons helps identify suitable crop-season combinations.</a:t>
            </a:r>
            <a:endParaRPr lang="en-US"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Future scope</a:t>
            </a:r>
            <a:endParaRPr lang="en-IN" sz="40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732155" y="1094740"/>
            <a:ext cx="9686925" cy="4794250"/>
          </a:xfrm>
          <a:prstGeom prst="rect">
            <a:avLst/>
          </a:prstGeom>
          <a:noFill/>
        </p:spPr>
        <p:txBody>
          <a:bodyPr wrap="square" rtlCol="0" anchor="t">
            <a:spAutoFit/>
          </a:bodyPr>
          <a:p>
            <a:pPr marL="285750" indent="-285750">
              <a:lnSpc>
                <a:spcPct val="120000"/>
              </a:lnSpc>
              <a:buClr>
                <a:srgbClr val="2E946B"/>
              </a:buClr>
              <a:buFont typeface="Arial" panose="020B0604020202020204" pitchFamily="34" charset="0"/>
              <a:buChar char="•"/>
            </a:pPr>
            <a:r>
              <a:rPr lang="en-US" sz="1700" b="1"/>
              <a:t>Weather Forecast Integration :</a:t>
            </a:r>
            <a:endParaRPr lang="en-US" sz="1700" b="1"/>
          </a:p>
          <a:p>
            <a:pPr lvl="1" indent="0">
              <a:lnSpc>
                <a:spcPct val="120000"/>
              </a:lnSpc>
              <a:buFont typeface="Arial" panose="020B0604020202020204" pitchFamily="34" charset="0"/>
              <a:buNone/>
            </a:pPr>
            <a:r>
              <a:rPr lang="en-US" sz="1700"/>
              <a:t>Integrate real-time and historical weather data to improve seasonal agricultural predictions.</a:t>
            </a:r>
            <a:endParaRPr lang="en-US" sz="1700"/>
          </a:p>
          <a:p>
            <a:pPr marL="285750" indent="-285750">
              <a:lnSpc>
                <a:spcPct val="120000"/>
              </a:lnSpc>
              <a:buClr>
                <a:srgbClr val="2E946B"/>
              </a:buClr>
              <a:buFont typeface="Arial" panose="020B0604020202020204" pitchFamily="34" charset="0"/>
              <a:buChar char="•"/>
            </a:pPr>
            <a:r>
              <a:rPr lang="en-US" sz="1700" b="1"/>
              <a:t>Crop Yield Prediction :</a:t>
            </a:r>
            <a:endParaRPr lang="en-US" sz="1700" b="1"/>
          </a:p>
          <a:p>
            <a:pPr lvl="1" indent="0">
              <a:lnSpc>
                <a:spcPct val="120000"/>
              </a:lnSpc>
              <a:buFont typeface="Arial" panose="020B0604020202020204" pitchFamily="34" charset="0"/>
              <a:buNone/>
            </a:pPr>
            <a:r>
              <a:rPr lang="en-US" sz="1700"/>
              <a:t>Develop advanced machine-learning models to predict crop yield based on environmental and farming conditions.</a:t>
            </a:r>
            <a:endParaRPr lang="en-US" sz="1700"/>
          </a:p>
          <a:p>
            <a:pPr marL="285750" indent="-285750">
              <a:lnSpc>
                <a:spcPct val="120000"/>
              </a:lnSpc>
              <a:buClr>
                <a:srgbClr val="2E946B"/>
              </a:buClr>
              <a:buFont typeface="Arial" panose="020B0604020202020204" pitchFamily="34" charset="0"/>
              <a:buChar char="•"/>
            </a:pPr>
            <a:r>
              <a:rPr lang="en-US" sz="1700" b="1"/>
              <a:t>Smart Irrigation :</a:t>
            </a:r>
            <a:endParaRPr lang="en-US" sz="1700" b="1"/>
          </a:p>
          <a:p>
            <a:pPr lvl="1" indent="0">
              <a:lnSpc>
                <a:spcPct val="120000"/>
              </a:lnSpc>
              <a:buFont typeface="Arial" panose="020B0604020202020204" pitchFamily="34" charset="0"/>
              <a:buNone/>
            </a:pPr>
            <a:r>
              <a:rPr lang="en-US" sz="1700"/>
              <a:t>Use sensor and IoT data to optimize irrigation and reduce unnecessary water consumption.</a:t>
            </a:r>
            <a:endParaRPr lang="en-US" sz="1700"/>
          </a:p>
          <a:p>
            <a:pPr marL="285750" indent="-285750">
              <a:lnSpc>
                <a:spcPct val="120000"/>
              </a:lnSpc>
              <a:buClr>
                <a:srgbClr val="2E946B"/>
              </a:buClr>
              <a:buFont typeface="Arial" panose="020B0604020202020204" pitchFamily="34" charset="0"/>
              <a:buChar char="•"/>
            </a:pPr>
            <a:r>
              <a:rPr lang="en-US" sz="1700" b="1"/>
              <a:t>Regional Recommendation System :</a:t>
            </a:r>
            <a:endParaRPr lang="en-US" sz="1700" b="1"/>
          </a:p>
          <a:p>
            <a:pPr lvl="1" indent="0">
              <a:lnSpc>
                <a:spcPct val="120000"/>
              </a:lnSpc>
              <a:buFont typeface="Arial" panose="020B0604020202020204" pitchFamily="34" charset="0"/>
              <a:buNone/>
            </a:pPr>
            <a:r>
              <a:rPr lang="en-US" sz="1700"/>
              <a:t>Develop a system that recommends suitable crops based on region, season, soil, and environmental conditions.</a:t>
            </a:r>
            <a:endParaRPr lang="en-US" sz="1700"/>
          </a:p>
          <a:p>
            <a:pPr marL="285750" indent="-285750">
              <a:lnSpc>
                <a:spcPct val="120000"/>
              </a:lnSpc>
              <a:buClr>
                <a:srgbClr val="2E946B"/>
              </a:buClr>
              <a:buFont typeface="Arial" panose="020B0604020202020204" pitchFamily="34" charset="0"/>
              <a:buChar char="•"/>
            </a:pPr>
            <a:r>
              <a:rPr lang="en-US" sz="1700" b="1"/>
              <a:t>Real-Time Agricultural Dashboard :</a:t>
            </a:r>
            <a:endParaRPr lang="en-US" sz="1700" b="1"/>
          </a:p>
          <a:p>
            <a:pPr lvl="1" indent="0">
              <a:lnSpc>
                <a:spcPct val="120000"/>
              </a:lnSpc>
              <a:buFont typeface="Arial" panose="020B0604020202020204" pitchFamily="34" charset="0"/>
              <a:buNone/>
            </a:pPr>
            <a:r>
              <a:rPr lang="en-US" sz="1700"/>
              <a:t>Create an interactive dashboard using Power BI / Tableau / Streamlit for real-time monitoring.</a:t>
            </a:r>
            <a:endParaRPr lang="en-US" sz="1700"/>
          </a:p>
          <a:p>
            <a:pPr marL="285750" indent="-285750">
              <a:lnSpc>
                <a:spcPct val="120000"/>
              </a:lnSpc>
              <a:buClr>
                <a:srgbClr val="2E946B"/>
              </a:buClr>
              <a:buFont typeface="Arial" panose="020B0604020202020204" pitchFamily="34" charset="0"/>
              <a:buChar char="•"/>
            </a:pPr>
            <a:r>
              <a:rPr lang="en-US" sz="1700" b="1"/>
              <a:t>Advanced Machine Learning :</a:t>
            </a:r>
            <a:endParaRPr lang="en-US" sz="1700" b="1"/>
          </a:p>
          <a:p>
            <a:pPr lvl="1" indent="0">
              <a:lnSpc>
                <a:spcPct val="120000"/>
              </a:lnSpc>
              <a:buFont typeface="Arial" panose="020B0604020202020204" pitchFamily="34" charset="0"/>
              <a:buNone/>
            </a:pPr>
            <a:r>
              <a:rPr lang="en-US" sz="1700"/>
              <a:t>Use models such as XGBoost, Random Forest, and neural networks for improved prediction.</a:t>
            </a:r>
            <a:endParaRPr lang="en-US" sz="17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GitHub Link</a:t>
            </a:r>
            <a:endParaRPr lang="en-IN" sz="40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p:cNvSpPr txBox="1"/>
          <p:nvPr/>
        </p:nvSpPr>
        <p:spPr>
          <a:xfrm>
            <a:off x="675916" y="2014995"/>
            <a:ext cx="7232875" cy="368300"/>
          </a:xfrm>
          <a:prstGeom prst="rect">
            <a:avLst/>
          </a:prstGeom>
          <a:noFill/>
        </p:spPr>
        <p:txBody>
          <a:bodyPr wrap="square">
            <a:spAutoFit/>
          </a:bodyPr>
          <a:lstStyle/>
          <a:p>
            <a:r>
              <a:rPr lang="en-US" dirty="0">
                <a:hlinkClick r:id="rId2" action="ppaction://hlinkfile"/>
              </a:rPr>
              <a:t>https://github.com/deba-biswas/seasonal-agriculture-analysis.git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a:t>
            </a:r>
            <a:r>
              <a:rPr lang="en-US" altLang="en-IN" sz="3200" dirty="0"/>
              <a:t> </a:t>
            </a:r>
            <a:r>
              <a:rPr lang="en-IN" sz="3200" dirty="0"/>
              <a:t>- Data Visualization </a:t>
            </a:r>
            <a:endParaRPr lang="en-IN" sz="32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2"/>
          <a:stretch>
            <a:fillRect/>
          </a:stretch>
        </p:blipFill>
        <p:spPr>
          <a:xfrm>
            <a:off x="1681480" y="1397635"/>
            <a:ext cx="7265670" cy="5140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08150" y="2571750"/>
            <a:ext cx="11340000" cy="700114"/>
          </a:xfrm>
          <a:prstGeom prst="rect">
            <a:avLst/>
          </a:prstGeom>
        </p:spPr>
        <p:txBody>
          <a:bodyPr anchor="ctr">
            <a:normAutofit fontScale="90000"/>
          </a:bodyPr>
          <a:lstStyle/>
          <a:p>
            <a:pPr algn="ctr"/>
            <a:r>
              <a:rPr lang="en-US" sz="6000" b="1" dirty="0">
                <a:solidFill>
                  <a:schemeClr val="tx1"/>
                </a:solidFill>
              </a:rPr>
              <a:t>Thank you</a:t>
            </a:r>
            <a:endParaRPr lang="en-US" sz="6000" b="1" dirty="0">
              <a:solidFill>
                <a:schemeClr val="tx1"/>
              </a:solidFill>
            </a:endParaRPr>
          </a:p>
        </p:txBody>
      </p:sp>
      <p:pic>
        <p:nvPicPr>
          <p:cNvPr id="15" name="Picture 14"/>
          <p:cNvPicPr>
            <a:picLocks noChangeAspect="1"/>
          </p:cNvPicPr>
          <p:nvPr/>
        </p:nvPicPr>
        <p:blipFill rotWithShape="1">
          <a:blip r:embed="rId1"/>
          <a:srcRect t="96181"/>
          <a:stretch>
            <a:fillRect/>
          </a:stretch>
        </p:blipFill>
        <p:spPr>
          <a:xfrm>
            <a:off x="684847" y="648081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5303</Words>
  <Application>WPS Presentation</Application>
  <PresentationFormat>Widescreen</PresentationFormat>
  <Paragraphs>141</Paragraphs>
  <Slides>14</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Wingdings 3</vt:lpstr>
      <vt:lpstr>Arial</vt:lpstr>
      <vt:lpstr>Calibri</vt:lpstr>
      <vt:lpstr>Trebuchet MS</vt:lpstr>
      <vt:lpstr>Microsoft YaHei</vt:lpstr>
      <vt:lpstr>Droid Sans Fallback</vt:lpstr>
      <vt:lpstr>Arial Unicode MS</vt:lpstr>
      <vt:lpstr>Facet</vt:lpstr>
      <vt:lpstr>Project Title - 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deba</cp:lastModifiedBy>
  <cp:revision>100</cp:revision>
  <dcterms:created xsi:type="dcterms:W3CDTF">2026-09-09T15:25:43Z</dcterms:created>
  <dcterms:modified xsi:type="dcterms:W3CDTF">2026-09-09T15:25:43Z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
  </property>
  <property fmtid="{D5CDD505-2E9C-101B-9397-08002B2CF9AE}" pid="4" name="KSOProductBuildVer">
    <vt:lpwstr>1033-11.1.0.11723</vt:lpwstr>
  </property>
</Properties>
</file>