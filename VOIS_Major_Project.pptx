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8"/>
  </p:notesMasterIdLst>
  <p:handoutMasterIdLst>
    <p:handoutMasterId r:id="rId18"/>
  </p:handoutMasterIdLst>
  <p:sldIdLst>
    <p:sldId id="338" r:id="rId3"/>
    <p:sldId id="327" r:id="rId4"/>
    <p:sldId id="315" r:id="rId5"/>
    <p:sldId id="329" r:id="rId6"/>
    <p:sldId id="302" r:id="rId7"/>
    <p:sldId id="339" r:id="rId9"/>
    <p:sldId id="340" r:id="rId10"/>
    <p:sldId id="344" r:id="rId11"/>
    <p:sldId id="345" r:id="rId12"/>
    <p:sldId id="346" r:id="rId13"/>
    <p:sldId id="341" r:id="rId14"/>
    <p:sldId id="342" r:id="rId15"/>
    <p:sldId id="343" r:id="rId16"/>
    <p:sldId id="30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31"/>
        <p:guide orient="horz" pos="3891"/>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fld>
            <a:endParaRPr lang="en-US" dirty="0"/>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endParaRPr lang="en-US" noProof="0"/>
          </a:p>
          <a:p>
            <a:pPr lvl="1"/>
            <a:r>
              <a:rPr lang="en-US" noProof="0"/>
              <a:t>Second level</a:t>
            </a:r>
            <a:endParaRPr lang="en-US" noProof="0"/>
          </a:p>
          <a:p>
            <a:pPr lvl="2"/>
            <a:r>
              <a:rPr lang="en-US" noProof="0"/>
              <a:t>Third level</a:t>
            </a:r>
            <a:endParaRPr lang="en-US" noProof="0"/>
          </a:p>
          <a:p>
            <a:pPr lvl="3"/>
            <a:r>
              <a:rPr lang="en-US" noProof="0"/>
              <a:t>Fourth level</a:t>
            </a:r>
            <a:endParaRPr lang="en-US" noProof="0"/>
          </a:p>
          <a:p>
            <a:pPr lvl="4"/>
            <a:r>
              <a:rPr lang="en-US" noProof="0"/>
              <a:t>Fifth level</a:t>
            </a:r>
            <a:endParaRPr lang="en-US" noProof="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fld>
            <a:endParaRPr lang="en-US" noProof="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fld>
            <a:endParaRPr lang="en-US" dirty="0"/>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200" indent="0">
              <a:buNone/>
              <a:defRPr sz="1400"/>
            </a:lvl2pPr>
            <a:lvl3pPr marL="914400" indent="0">
              <a:buNone/>
              <a:defRPr sz="1200"/>
            </a:lvl3pPr>
            <a:lvl4pPr marL="1370965" indent="0">
              <a:buNone/>
              <a:defRPr sz="1000"/>
            </a:lvl4pPr>
            <a:lvl5pPr marL="1828165" indent="0">
              <a:buNone/>
              <a:defRPr sz="1000"/>
            </a:lvl5pPr>
            <a:lvl6pPr marL="2285365" indent="0">
              <a:buNone/>
              <a:defRPr sz="1000"/>
            </a:lvl6pPr>
            <a:lvl7pPr marL="2742565" indent="0">
              <a:buNone/>
              <a:defRPr sz="1000"/>
            </a:lvl7pPr>
            <a:lvl8pPr marL="3199130" indent="0">
              <a:buNone/>
              <a:defRPr sz="1000"/>
            </a:lvl8pPr>
            <a:lvl9pPr marL="365633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42A54C80-263E-416B-A8E0-580EDEADCBDC}"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fld>
            <a:endParaRPr lang="en-US" dirty="0"/>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fld>
            <a:endParaRPr lang="en-US" dirty="0"/>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panose="020B0604020202020204"/>
              </a:rPr>
              <a:t>”</a:t>
            </a:r>
            <a:endParaRPr lang="en-US" sz="8000" baseline="0" dirty="0">
              <a:ln w="3175" cmpd="sng">
                <a:noFill/>
              </a:ln>
              <a:solidFill>
                <a:schemeClr val="accent1">
                  <a:lumMod val="60000"/>
                  <a:lumOff val="40000"/>
                </a:schemeClr>
              </a:solidFill>
              <a:effectLst/>
              <a:latin typeface="Arial" panose="020B0604020202020204"/>
            </a:endParaRP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endParaRPr lang="en-US"/>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fld>
            <a:endParaRPr lang="en-US" dirty="0"/>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fld>
            <a:endParaRPr lang="en-US" dirty="0"/>
          </a:p>
        </p:txBody>
      </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endParaRPr lang="en-US"/>
          </a:p>
          <a:p>
            <a:pPr lvl="1"/>
            <a:r>
              <a:rPr lang="en-US"/>
              <a:t>Second level</a:t>
            </a:r>
            <a:endParaRPr lang="en-US"/>
          </a:p>
        </p:txBody>
      </p:sp>
      <p:sp>
        <p:nvSpPr>
          <p:cNvPr id="15" name="Hexagon 14"/>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endParaRPr lang="en-US"/>
          </a:p>
        </p:txBody>
      </p:sp>
      <p:sp>
        <p:nvSpPr>
          <p:cNvPr id="8"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endParaRPr lang="en-US"/>
          </a:p>
        </p:txBody>
      </p:sp>
      <p:sp>
        <p:nvSpPr>
          <p:cNvPr id="19" name="Rectangle 18"/>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24" name="Text Placeholder 22"/>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27" name="Text Placeholder 22"/>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28" name="Text Placeholder 22"/>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29" name="Text Placeholder 22"/>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30" name="Text Placeholder 22"/>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31" name="Text Placeholder 22"/>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32" name="Text Placeholder 22"/>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33" name="Text Placeholder 22"/>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endParaRPr lang="en-US"/>
          </a:p>
        </p:txBody>
      </p:sp>
      <p:sp>
        <p:nvSpPr>
          <p:cNvPr id="34" name="Text Placeholder 22"/>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endParaRPr lang="en-US"/>
          </a:p>
        </p:txBody>
      </p:sp>
      <p:sp>
        <p:nvSpPr>
          <p:cNvPr id="37" name="Picture Placeholder 36"/>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showMasterSp="0"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endParaRPr lang="en-US" dirty="0"/>
          </a:p>
        </p:txBody>
      </p:sp>
      <p:sp>
        <p:nvSpPr>
          <p:cNvPr id="6" name="Title 1"/>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2" Type="http://schemas.openxmlformats.org/officeDocument/2006/relationships/theme" Target="../theme/theme1.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fld>
            <a:endParaRPr lang="en-US" dirty="0"/>
          </a:p>
        </p:txBody>
      </p:sp>
      <p:sp>
        <p:nvSpPr>
          <p:cNvPr id="18" name="Date Placeholder 3"/>
          <p:cNvSpPr txBox="1"/>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fld>
            <a:endParaRPr lang="en-US" sz="1100" dirty="0">
              <a:solidFill>
                <a:schemeClr val="accent2"/>
              </a:solidFill>
            </a:endParaRPr>
          </a:p>
        </p:txBody>
      </p:sp>
      <p:sp>
        <p:nvSpPr>
          <p:cNvPr id="29" name="Footer Placeholder 4"/>
          <p:cNvSpPr txBox="1"/>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endParaRPr lang="en-US" sz="1100" b="1" dirty="0">
              <a:solidFill>
                <a:schemeClr val="accent2"/>
              </a:solidFill>
            </a:endParaRPr>
          </a:p>
        </p:txBody>
      </p:sp>
      <p:sp>
        <p:nvSpPr>
          <p:cNvPr id="30" name="Slide Number Placeholder 5"/>
          <p:cNvSpPr txBox="1"/>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fld>
            <a:endParaRPr lang="en-US" sz="1100" dirty="0">
              <a:solidFill>
                <a:schemeClr val="accent4"/>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panose="05040102010807070707"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1.jpeg"/><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3.pn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9.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8.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5" Type="http://schemas.openxmlformats.org/officeDocument/2006/relationships/slideLayout" Target="../slideLayouts/slideLayout19.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19.xml"/><Relationship Id="rId5" Type="http://schemas.openxmlformats.org/officeDocument/2006/relationships/image" Target="../media/image12.png"/><Relationship Id="rId4" Type="http://schemas.openxmlformats.org/officeDocument/2006/relationships/image" Target="../media/image11.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19.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9.xml"/><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19.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9.xml"/><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hyperlink" Target="https://github.com/deba-biswas/seasonal-agriculture-analysis.git" TargetMode="External"/><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20.png"/><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0.xml"/><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675640" y="3424555"/>
            <a:ext cx="8604885" cy="861695"/>
          </a:xfrm>
        </p:spPr>
        <p:txBody>
          <a:bodyPr vert="horz" lIns="91440" tIns="45720" rIns="91440" bIns="45720" rtlCol="0" anchor="t">
            <a:normAutofit/>
          </a:bodyPr>
          <a:lstStyle/>
          <a:p>
            <a:pPr algn="l"/>
            <a:r>
              <a:rPr lang="en-US" b="0" dirty="0">
                <a:solidFill>
                  <a:schemeClr val="tx1"/>
                </a:solidFill>
              </a:rPr>
              <a:t>Student Name - Debangshu Biswas</a:t>
            </a:r>
            <a:endParaRPr lang="en-IN" b="0" dirty="0">
              <a:solidFill>
                <a:schemeClr val="tx1"/>
              </a:solidFill>
            </a:endParaRPr>
          </a:p>
          <a:p>
            <a:pPr algn="l"/>
            <a:r>
              <a:rPr lang="en-US" b="0" dirty="0">
                <a:solidFill>
                  <a:schemeClr val="tx1"/>
                </a:solidFill>
              </a:rPr>
              <a:t>College Name - Sister Nivedita University</a:t>
            </a:r>
            <a:endParaRPr lang="en-IN" b="0" dirty="0">
              <a:solidFill>
                <a:schemeClr val="tx1"/>
              </a:solidFill>
            </a:endParaRPr>
          </a:p>
        </p:txBody>
      </p:sp>
      <p:sp>
        <p:nvSpPr>
          <p:cNvPr id="4" name="Title 3"/>
          <p:cNvSpPr>
            <a:spLocks noGrp="1"/>
          </p:cNvSpPr>
          <p:nvPr>
            <p:ph type="title"/>
          </p:nvPr>
        </p:nvSpPr>
        <p:spPr>
          <a:xfrm>
            <a:off x="675640" y="2694305"/>
            <a:ext cx="10728325" cy="608965"/>
          </a:xfrm>
        </p:spPr>
        <p:txBody>
          <a:bodyPr>
            <a:noAutofit/>
          </a:bodyPr>
          <a:lstStyle/>
          <a:p>
            <a:r>
              <a:rPr lang="en-GB" sz="3200" dirty="0"/>
              <a:t>Project Title -</a:t>
            </a:r>
            <a:r>
              <a:rPr lang="en-US" altLang="en-GB" sz="3200" dirty="0"/>
              <a:t> Seasonal Agriculture Performance Analysis</a:t>
            </a:r>
            <a:endParaRPr lang="en-US" altLang="en-GB" sz="3200" dirty="0"/>
          </a:p>
        </p:txBody>
      </p:sp>
      <p:pic>
        <p:nvPicPr>
          <p:cNvPr id="6" name="Picture 5"/>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3" name="TextBox 2"/>
          <p:cNvSpPr txBox="1"/>
          <p:nvPr/>
        </p:nvSpPr>
        <p:spPr>
          <a:xfrm>
            <a:off x="675640" y="4407535"/>
            <a:ext cx="6264275" cy="398780"/>
          </a:xfrm>
          <a:prstGeom prst="rect">
            <a:avLst/>
          </a:prstGeom>
          <a:noFill/>
        </p:spPr>
        <p:txBody>
          <a:bodyPr wrap="square" rtlCol="0">
            <a:spAutoFit/>
          </a:bodyPr>
          <a:lstStyle/>
          <a:p>
            <a:r>
              <a:rPr lang="en-US" sz="2000" b="1" dirty="0"/>
              <a:t>AICTE STU ID :   STU685f65213eac11751082273</a:t>
            </a:r>
            <a:endParaRPr lang="en-US" sz="2000" b="1"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grpId="0" nodeType="clickEffect">
                                  <p:stCondLst>
                                    <p:cond delay="0"/>
                                  </p:stCondLst>
                                  <p:childTnLst>
                                    <p:set>
                                      <p:cBhvr>
                                        <p:cTn id="24" dur="1" fill="hold">
                                          <p:stCondLst>
                                            <p:cond delay="0"/>
                                          </p:stCondLst>
                                        </p:cTn>
                                        <p:tgtEl>
                                          <p:spTgt spid="2">
                                            <p:txEl>
                                              <p:pRg st="0" end="0"/>
                                            </p:txEl>
                                          </p:spTgt>
                                        </p:tgtEl>
                                        <p:attrNameLst>
                                          <p:attrName>style.visibility</p:attrName>
                                        </p:attrNameLst>
                                      </p:cBhvr>
                                      <p:to>
                                        <p:strVal val="visible"/>
                                      </p:to>
                                    </p:set>
                                    <p:animEffect transition="in" filter="randombar(horizontal)">
                                      <p:cBhvr>
                                        <p:cTn id="25" dur="500"/>
                                        <p:tgtEl>
                                          <p:spTgt spid="2">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grpId="0" nodeType="clickEffect">
                                  <p:stCondLst>
                                    <p:cond delay="0"/>
                                  </p:stCondLst>
                                  <p:childTnLst>
                                    <p:set>
                                      <p:cBhvr>
                                        <p:cTn id="2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0"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709295" y="2042795"/>
            <a:ext cx="7086600" cy="3608070"/>
          </a:xfrm>
        </p:spPr>
        <p:txBody>
          <a:bodyPr vert="horz" lIns="91440" tIns="45720" rIns="91440" bIns="45720" rtlCol="0" anchor="t">
            <a:normAutofit fontScale="60000" lnSpcReduction="20000"/>
          </a:bodyPr>
          <a:lstStyle/>
          <a:p>
            <a:pPr algn="just">
              <a:lnSpc>
                <a:spcPct val="150000"/>
              </a:lnSpc>
              <a:buSzPct val="100000"/>
              <a:buFont typeface="Arial" panose="020B0604020202020204" pitchFamily="34" charset="0"/>
              <a:buChar char="•"/>
            </a:pPr>
            <a:r>
              <a:rPr lang="en-US" sz="2800" dirty="0">
                <a:solidFill>
                  <a:schemeClr val="tx1"/>
                </a:solidFill>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US" sz="2800" dirty="0">
              <a:solidFill>
                <a:schemeClr val="tx1"/>
              </a:solidFill>
            </a:endParaRPr>
          </a:p>
        </p:txBody>
      </p:sp>
      <p:sp>
        <p:nvSpPr>
          <p:cNvPr id="4" name="Title 3"/>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p:cNvPicPr>
            <a:picLocks noChangeAspect="1"/>
          </p:cNvPicPr>
          <p:nvPr/>
        </p:nvPicPr>
        <p:blipFill>
          <a:blip r:embed="rId1"/>
          <a:stretch>
            <a:fillRect/>
          </a:stretch>
        </p:blipFill>
        <p:spPr>
          <a:xfrm>
            <a:off x="7995684" y="2930834"/>
            <a:ext cx="2760758" cy="3264409"/>
          </a:xfrm>
          <a:prstGeom prst="rect">
            <a:avLst/>
          </a:prstGeom>
        </p:spPr>
      </p:pic>
      <p:pic>
        <p:nvPicPr>
          <p:cNvPr id="6" name="Picture 5"/>
          <p:cNvPicPr>
            <a:picLocks noChangeAspect="1"/>
          </p:cNvPicPr>
          <p:nvPr/>
        </p:nvPicPr>
        <p:blipFill rotWithShape="1">
          <a:blip r:embed="rId2"/>
          <a:srcRect t="96181"/>
          <a:stretch>
            <a:fillRect/>
          </a:stretch>
        </p:blipFill>
        <p:spPr>
          <a:xfrm>
            <a:off x="675957" y="647192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675639" y="448978"/>
            <a:ext cx="6276109" cy="830997"/>
          </a:xfrm>
        </p:spPr>
        <p:txBody>
          <a:bodyPr>
            <a:normAutofit/>
          </a:bodyPr>
          <a:lstStyle/>
          <a:p>
            <a:r>
              <a:rPr lang="en-GB" sz="4300" dirty="0"/>
              <a:t>Project Description</a:t>
            </a:r>
            <a:endParaRPr lang="en-IN" sz="4300" dirty="0"/>
          </a:p>
        </p:txBody>
      </p:sp>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pic>
        <p:nvPicPr>
          <p:cNvPr id="6" name="Picture 5"/>
          <p:cNvPicPr>
            <a:picLocks noChangeAspect="1"/>
          </p:cNvPicPr>
          <p:nvPr/>
        </p:nvPicPr>
        <p:blipFill>
          <a:blip r:embed="rId2"/>
          <a:stretch>
            <a:fillRect/>
          </a:stretch>
        </p:blipFill>
        <p:spPr>
          <a:xfrm>
            <a:off x="467359" y="6410461"/>
            <a:ext cx="3706253" cy="296092"/>
          </a:xfrm>
          <a:prstGeom prst="rect">
            <a:avLst/>
          </a:prstGeom>
        </p:spPr>
      </p:pic>
      <p:sp>
        <p:nvSpPr>
          <p:cNvPr id="2" name="Text Box 1"/>
          <p:cNvSpPr txBox="1"/>
          <p:nvPr/>
        </p:nvSpPr>
        <p:spPr>
          <a:xfrm>
            <a:off x="616585" y="1583690"/>
            <a:ext cx="9182735" cy="4112895"/>
          </a:xfrm>
          <a:prstGeom prst="rect">
            <a:avLst/>
          </a:prstGeom>
          <a:noFill/>
        </p:spPr>
        <p:txBody>
          <a:bodyPr wrap="square" rtlCol="0">
            <a:spAutoFit/>
          </a:bodyPr>
          <a:p>
            <a:pPr algn="l">
              <a:lnSpc>
                <a:spcPct val="110000"/>
              </a:lnSpc>
            </a:pPr>
            <a:r>
              <a:rPr lang="en-US" sz="1700"/>
              <a:t>Seasonal Agriculture Performance Analysis is a data analytics project that studies agricultural performance across different seasons, crops, regions, and farming conditions.</a:t>
            </a:r>
            <a:endParaRPr lang="en-US" sz="1700"/>
          </a:p>
          <a:p>
            <a:pPr algn="l">
              <a:lnSpc>
                <a:spcPct val="110000"/>
              </a:lnSpc>
            </a:pPr>
            <a:endParaRPr lang="en-US" sz="1700"/>
          </a:p>
          <a:p>
            <a:pPr algn="l">
              <a:lnSpc>
                <a:spcPct val="110000"/>
              </a:lnSpc>
            </a:pPr>
            <a:r>
              <a:rPr lang="en-US" sz="1700"/>
              <a:t>The project uses a structured agricultural dataset to:</a:t>
            </a:r>
            <a:endParaRPr lang="en-US" sz="1700"/>
          </a:p>
          <a:p>
            <a:pPr algn="l">
              <a:lnSpc>
                <a:spcPct val="110000"/>
              </a:lnSpc>
            </a:pPr>
            <a:endParaRPr lang="en-US" sz="1700"/>
          </a:p>
          <a:p>
            <a:pPr marL="285750" indent="-285750" algn="l">
              <a:lnSpc>
                <a:spcPct val="110000"/>
              </a:lnSpc>
              <a:buClr>
                <a:srgbClr val="2E946B"/>
              </a:buClr>
              <a:buFont typeface="Arial" panose="020B0604020202020204" pitchFamily="34" charset="0"/>
              <a:buChar char="•"/>
            </a:pPr>
            <a:r>
              <a:rPr lang="en-US" sz="1700"/>
              <a:t>Clean and prepare raw agricultural data.</a:t>
            </a:r>
            <a:endParaRPr lang="en-US" sz="1700"/>
          </a:p>
          <a:p>
            <a:pPr marL="285750" indent="-285750" algn="l">
              <a:lnSpc>
                <a:spcPct val="110000"/>
              </a:lnSpc>
              <a:buClr>
                <a:srgbClr val="2E946B"/>
              </a:buClr>
              <a:buFont typeface="Arial" panose="020B0604020202020204" pitchFamily="34" charset="0"/>
              <a:buChar char="•"/>
            </a:pPr>
            <a:r>
              <a:rPr lang="en-US" sz="1700"/>
              <a:t>Analyze seasonal variations in crop yield and production.</a:t>
            </a:r>
            <a:endParaRPr lang="en-US" sz="1700"/>
          </a:p>
          <a:p>
            <a:pPr marL="285750" indent="-285750" algn="l">
              <a:lnSpc>
                <a:spcPct val="110000"/>
              </a:lnSpc>
              <a:buClr>
                <a:srgbClr val="2E946B"/>
              </a:buClr>
              <a:buFont typeface="Arial" panose="020B0604020202020204" pitchFamily="34" charset="0"/>
              <a:buChar char="•"/>
            </a:pPr>
            <a:r>
              <a:rPr lang="en-US" sz="1700"/>
              <a:t>Compare revenue, cost, and profit across seasons.</a:t>
            </a:r>
            <a:endParaRPr lang="en-US" sz="1700"/>
          </a:p>
          <a:p>
            <a:pPr marL="285750" indent="-285750" algn="l">
              <a:lnSpc>
                <a:spcPct val="110000"/>
              </a:lnSpc>
              <a:buClr>
                <a:srgbClr val="2E946B"/>
              </a:buClr>
              <a:buFont typeface="Arial" panose="020B0604020202020204" pitchFamily="34" charset="0"/>
              <a:buChar char="•"/>
            </a:pPr>
            <a:r>
              <a:rPr lang="en-US" sz="1700"/>
              <a:t>Study environmental factors such as rainfall, temperature, humidity, and soil moisture.</a:t>
            </a:r>
            <a:endParaRPr lang="en-US" sz="1700"/>
          </a:p>
          <a:p>
            <a:pPr marL="285750" indent="-285750" algn="l">
              <a:lnSpc>
                <a:spcPct val="110000"/>
              </a:lnSpc>
              <a:buClr>
                <a:srgbClr val="2E946B"/>
              </a:buClr>
              <a:buFont typeface="Arial" panose="020B0604020202020204" pitchFamily="34" charset="0"/>
              <a:buChar char="•"/>
            </a:pPr>
            <a:r>
              <a:rPr lang="en-US" sz="1700"/>
              <a:t>Analyze resource utilization including water and fertilizer.</a:t>
            </a:r>
            <a:endParaRPr lang="en-US" sz="1700"/>
          </a:p>
          <a:p>
            <a:pPr marL="285750" indent="-285750" algn="l">
              <a:lnSpc>
                <a:spcPct val="110000"/>
              </a:lnSpc>
              <a:buClr>
                <a:srgbClr val="2E946B"/>
              </a:buClr>
              <a:buFont typeface="Arial" panose="020B0604020202020204" pitchFamily="34" charset="0"/>
              <a:buChar char="•"/>
            </a:pPr>
            <a:r>
              <a:rPr lang="en-US" sz="1700"/>
              <a:t>Compare crop and irrigation performance.</a:t>
            </a:r>
            <a:endParaRPr lang="en-US" sz="1700"/>
          </a:p>
          <a:p>
            <a:pPr marL="285750" indent="-285750" algn="l">
              <a:lnSpc>
                <a:spcPct val="110000"/>
              </a:lnSpc>
              <a:buClr>
                <a:srgbClr val="2E946B"/>
              </a:buClr>
              <a:buFont typeface="Arial" panose="020B0604020202020204" pitchFamily="34" charset="0"/>
              <a:buChar char="•"/>
            </a:pPr>
            <a:r>
              <a:rPr lang="en-US" sz="1700"/>
              <a:t>Identify relationships between environmental conditions and agricultural outcomes.</a:t>
            </a:r>
            <a:endParaRPr lang="en-US" sz="1700"/>
          </a:p>
          <a:p>
            <a:pPr marL="285750" indent="-285750" algn="l">
              <a:lnSpc>
                <a:spcPct val="110000"/>
              </a:lnSpc>
              <a:buClr>
                <a:srgbClr val="2E946B"/>
              </a:buClr>
              <a:buFont typeface="Arial" panose="020B0604020202020204" pitchFamily="34" charset="0"/>
              <a:buChar char="•"/>
            </a:pPr>
            <a:r>
              <a:rPr lang="en-US" sz="1700"/>
              <a:t>Apply statistical techniques to identify significant seasonal differences.</a:t>
            </a:r>
            <a:endParaRPr lang="en-US" sz="1700"/>
          </a:p>
          <a:p>
            <a:pPr marL="285750" indent="-285750" algn="l">
              <a:lnSpc>
                <a:spcPct val="110000"/>
              </a:lnSpc>
              <a:buClr>
                <a:srgbClr val="2E946B"/>
              </a:buClr>
              <a:buFont typeface="Arial" panose="020B0604020202020204" pitchFamily="34" charset="0"/>
              <a:buChar char="•"/>
            </a:pPr>
            <a:r>
              <a:rPr lang="en-US" sz="1700"/>
              <a:t>Generate data-driven insights and recommendations for better agricultural planning.</a:t>
            </a:r>
            <a:endParaRPr lang="en-US" sz="17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19760" y="482600"/>
            <a:ext cx="7824470" cy="802640"/>
          </a:xfrm>
        </p:spPr>
        <p:txBody>
          <a:bodyPr>
            <a:noAutofit/>
          </a:bodyPr>
          <a:lstStyle/>
          <a:p>
            <a:r>
              <a:rPr lang="en-US" sz="4300" dirty="0"/>
              <a:t>WHO ARE THE END USERS?</a:t>
            </a:r>
            <a:endParaRPr lang="en-US" sz="4300" dirty="0"/>
          </a:p>
        </p:txBody>
      </p:sp>
      <p:pic>
        <p:nvPicPr>
          <p:cNvPr id="6" name="Picture 5"/>
          <p:cNvPicPr>
            <a:picLocks noChangeAspect="1"/>
          </p:cNvPicPr>
          <p:nvPr/>
        </p:nvPicPr>
        <p:blipFill>
          <a:blip r:embed="rId1"/>
          <a:stretch>
            <a:fillRect/>
          </a:stretch>
        </p:blipFill>
        <p:spPr>
          <a:xfrm>
            <a:off x="721359" y="6176804"/>
            <a:ext cx="2181225" cy="485775"/>
          </a:xfrm>
          <a:prstGeom prst="rect">
            <a:avLst/>
          </a:prstGeom>
        </p:spPr>
      </p:pic>
      <p:sp>
        <p:nvSpPr>
          <p:cNvPr id="2" name="Text Placeholder 1"/>
          <p:cNvSpPr>
            <a:spLocks noGrp="1"/>
          </p:cNvSpPr>
          <p:nvPr>
            <p:ph type="body" sz="quarter" idx="12"/>
          </p:nvPr>
        </p:nvSpPr>
        <p:spPr>
          <a:xfrm>
            <a:off x="619760" y="1285240"/>
            <a:ext cx="9601835" cy="5039360"/>
          </a:xfrm>
        </p:spPr>
        <p:txBody>
          <a:bodyPr>
            <a:normAutofit fontScale="25000"/>
          </a:bodyPr>
          <a:lstStyle/>
          <a:p>
            <a:pPr algn="just">
              <a:lnSpc>
                <a:spcPct val="80000"/>
              </a:lnSpc>
              <a:buSzPct val="100000"/>
              <a:buFont typeface="Arial" panose="020B0604020202020204" pitchFamily="34" charset="0"/>
              <a:buChar char="•"/>
            </a:pPr>
            <a:r>
              <a:rPr lang="en-IN" sz="6800" b="1" dirty="0">
                <a:solidFill>
                  <a:schemeClr val="tx1"/>
                </a:solidFill>
              </a:rPr>
              <a:t>Farmers</a:t>
            </a:r>
            <a:endParaRPr lang="en-IN" sz="6800" b="1" dirty="0">
              <a:solidFill>
                <a:schemeClr val="tx1"/>
              </a:solidFill>
            </a:endParaRPr>
          </a:p>
          <a:p>
            <a:pPr marL="457200" lvl="1" indent="0" algn="just">
              <a:lnSpc>
                <a:spcPct val="80000"/>
              </a:lnSpc>
              <a:buSzPct val="100000"/>
              <a:buNone/>
            </a:pPr>
            <a:r>
              <a:rPr lang="en-IN" sz="6120" dirty="0">
                <a:solidFill>
                  <a:schemeClr val="tx1"/>
                </a:solidFill>
              </a:rPr>
              <a:t>To understand which seasons, crops, and farming practices provide better productivity and profitability.</a:t>
            </a:r>
            <a:endParaRPr lang="en-IN" sz="6120" dirty="0">
              <a:solidFill>
                <a:schemeClr val="tx1"/>
              </a:solidFill>
            </a:endParaRPr>
          </a:p>
          <a:p>
            <a:pPr algn="just">
              <a:lnSpc>
                <a:spcPct val="80000"/>
              </a:lnSpc>
              <a:buSzPct val="100000"/>
              <a:buFont typeface="Arial" panose="020B0604020202020204" pitchFamily="34" charset="0"/>
              <a:buChar char="•"/>
            </a:pPr>
            <a:r>
              <a:rPr lang="en-IN" sz="6800" b="1" dirty="0">
                <a:solidFill>
                  <a:schemeClr val="tx1"/>
                </a:solidFill>
              </a:rPr>
              <a:t>Agricultural Planners</a:t>
            </a:r>
            <a:r>
              <a:rPr lang="en-US" altLang="en-IN" sz="6800" dirty="0">
                <a:solidFill>
                  <a:schemeClr val="tx1"/>
                </a:solidFill>
              </a:rPr>
              <a:t> </a:t>
            </a:r>
            <a:endParaRPr lang="en-US" altLang="en-IN" sz="6800" dirty="0">
              <a:solidFill>
                <a:schemeClr val="tx1"/>
              </a:solidFill>
            </a:endParaRPr>
          </a:p>
          <a:p>
            <a:pPr marL="457200" lvl="1" indent="0" algn="just">
              <a:lnSpc>
                <a:spcPct val="80000"/>
              </a:lnSpc>
              <a:buSzPct val="100000"/>
              <a:buNone/>
            </a:pPr>
            <a:r>
              <a:rPr lang="en-IN" sz="6120" dirty="0">
                <a:solidFill>
                  <a:schemeClr val="tx1"/>
                </a:solidFill>
              </a:rPr>
              <a:t>To support seasonal crop planning and resource allocation.</a:t>
            </a:r>
            <a:endParaRPr lang="en-IN" sz="6120" dirty="0">
              <a:solidFill>
                <a:schemeClr val="tx1"/>
              </a:solidFill>
            </a:endParaRPr>
          </a:p>
          <a:p>
            <a:pPr algn="just">
              <a:lnSpc>
                <a:spcPct val="80000"/>
              </a:lnSpc>
              <a:buSzPct val="100000"/>
              <a:buFont typeface="Arial" panose="020B0604020202020204" pitchFamily="34" charset="0"/>
              <a:buChar char="•"/>
            </a:pPr>
            <a:r>
              <a:rPr lang="en-IN" sz="6800" b="1" dirty="0">
                <a:solidFill>
                  <a:schemeClr val="tx1"/>
                </a:solidFill>
              </a:rPr>
              <a:t>Government &amp; Agricultural Departments</a:t>
            </a:r>
            <a:endParaRPr lang="en-IN" sz="6800" b="1" dirty="0">
              <a:solidFill>
                <a:schemeClr val="tx1"/>
              </a:solidFill>
            </a:endParaRPr>
          </a:p>
          <a:p>
            <a:pPr marL="457200" lvl="1" indent="0" algn="just">
              <a:lnSpc>
                <a:spcPct val="80000"/>
              </a:lnSpc>
              <a:buSzPct val="100000"/>
              <a:buNone/>
            </a:pPr>
            <a:r>
              <a:rPr lang="en-IN" sz="6120" dirty="0">
                <a:solidFill>
                  <a:schemeClr val="tx1"/>
                </a:solidFill>
              </a:rPr>
              <a:t>To understand regional and seasonal agricultural patterns and support evidence-based planning.</a:t>
            </a:r>
            <a:endParaRPr lang="en-IN" sz="6120" dirty="0">
              <a:solidFill>
                <a:schemeClr val="tx1"/>
              </a:solidFill>
            </a:endParaRPr>
          </a:p>
          <a:p>
            <a:pPr algn="just">
              <a:lnSpc>
                <a:spcPct val="80000"/>
              </a:lnSpc>
              <a:buSzPct val="100000"/>
              <a:buFont typeface="Arial" panose="020B0604020202020204" pitchFamily="34" charset="0"/>
              <a:buChar char="•"/>
            </a:pPr>
            <a:r>
              <a:rPr lang="en-IN" sz="6800" b="1" dirty="0">
                <a:solidFill>
                  <a:schemeClr val="tx1"/>
                </a:solidFill>
              </a:rPr>
              <a:t>Irrigation &amp; Resource Managers</a:t>
            </a:r>
            <a:endParaRPr lang="en-IN" sz="6800" b="1" dirty="0">
              <a:solidFill>
                <a:schemeClr val="tx1"/>
              </a:solidFill>
            </a:endParaRPr>
          </a:p>
          <a:p>
            <a:pPr marL="457200" lvl="1" indent="0" algn="just">
              <a:lnSpc>
                <a:spcPct val="80000"/>
              </a:lnSpc>
              <a:buSzPct val="100000"/>
              <a:buNone/>
            </a:pPr>
            <a:r>
              <a:rPr lang="en-IN" sz="6120" dirty="0">
                <a:solidFill>
                  <a:schemeClr val="tx1"/>
                </a:solidFill>
              </a:rPr>
              <a:t>To identify opportunities for improving water efficiency.</a:t>
            </a:r>
            <a:endParaRPr lang="en-IN" sz="6120" dirty="0">
              <a:solidFill>
                <a:schemeClr val="tx1"/>
              </a:solidFill>
            </a:endParaRPr>
          </a:p>
          <a:p>
            <a:pPr algn="just">
              <a:lnSpc>
                <a:spcPct val="80000"/>
              </a:lnSpc>
              <a:buSzPct val="100000"/>
              <a:buFont typeface="Arial" panose="020B0604020202020204" pitchFamily="34" charset="0"/>
              <a:buChar char="•"/>
            </a:pPr>
            <a:r>
              <a:rPr lang="en-IN" sz="6800" b="1" dirty="0">
                <a:solidFill>
                  <a:schemeClr val="tx1"/>
                </a:solidFill>
              </a:rPr>
              <a:t>Agricultural Researchers</a:t>
            </a:r>
            <a:endParaRPr lang="en-IN" sz="6800" b="1" dirty="0">
              <a:solidFill>
                <a:schemeClr val="tx1"/>
              </a:solidFill>
            </a:endParaRPr>
          </a:p>
          <a:p>
            <a:pPr marL="457200" lvl="1" indent="0" algn="just">
              <a:lnSpc>
                <a:spcPct val="80000"/>
              </a:lnSpc>
              <a:buSzPct val="100000"/>
              <a:buNone/>
            </a:pPr>
            <a:r>
              <a:rPr lang="en-IN" sz="6120" dirty="0">
                <a:solidFill>
                  <a:schemeClr val="tx1"/>
                </a:solidFill>
              </a:rPr>
              <a:t>To investigate relationships between environmental conditions, farming practices, and crop performance.</a:t>
            </a:r>
            <a:endParaRPr lang="en-IN" sz="6120" dirty="0">
              <a:solidFill>
                <a:schemeClr val="tx1"/>
              </a:solidFill>
            </a:endParaRPr>
          </a:p>
          <a:p>
            <a:pPr algn="just">
              <a:lnSpc>
                <a:spcPct val="80000"/>
              </a:lnSpc>
              <a:buSzPct val="100000"/>
              <a:buFont typeface="Arial" panose="020B0604020202020204" pitchFamily="34" charset="0"/>
              <a:buChar char="•"/>
            </a:pPr>
            <a:r>
              <a:rPr lang="en-IN" sz="6800" b="1" dirty="0">
                <a:solidFill>
                  <a:schemeClr val="tx1"/>
                </a:solidFill>
              </a:rPr>
              <a:t>Agribusiness &amp; Supply Chain Organizations</a:t>
            </a:r>
            <a:endParaRPr lang="en-IN" sz="6800" b="1" dirty="0">
              <a:solidFill>
                <a:schemeClr val="tx1"/>
              </a:solidFill>
            </a:endParaRPr>
          </a:p>
          <a:p>
            <a:pPr marL="457200" lvl="1" indent="0" algn="just">
              <a:lnSpc>
                <a:spcPct val="80000"/>
              </a:lnSpc>
              <a:buSzPct val="100000"/>
              <a:buNone/>
            </a:pPr>
            <a:r>
              <a:rPr lang="en-IN" sz="6120" dirty="0">
                <a:solidFill>
                  <a:schemeClr val="tx1"/>
                </a:solidFill>
              </a:rPr>
              <a:t>To understand production and seasonal variations for better planning.</a:t>
            </a:r>
            <a:endParaRPr lang="en-IN" sz="6120" dirty="0">
              <a:solidFill>
                <a:schemeClr val="tx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Effect transition="in" filter="fade">
                                      <p:cBhvr>
                                        <p:cTn id="19" dur="1000"/>
                                        <p:tgtEl>
                                          <p:spTgt spid="2">
                                            <p:txEl>
                                              <p:pRg st="1" end="1"/>
                                            </p:txEl>
                                          </p:spTgt>
                                        </p:tgtEl>
                                      </p:cBhvr>
                                    </p:animEffect>
                                    <p:anim calcmode="lin" valueType="num">
                                      <p:cBhvr>
                                        <p:cTn id="20"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2">
                                            <p:txEl>
                                              <p:pRg st="2" end="2"/>
                                            </p:txEl>
                                          </p:spTgt>
                                        </p:tgtEl>
                                        <p:attrNameLst>
                                          <p:attrName>style.visibility</p:attrName>
                                        </p:attrNameLst>
                                      </p:cBhvr>
                                      <p:to>
                                        <p:strVal val="visible"/>
                                      </p:to>
                                    </p:set>
                                    <p:animEffect transition="in" filter="fade">
                                      <p:cBhvr>
                                        <p:cTn id="26" dur="1000"/>
                                        <p:tgtEl>
                                          <p:spTgt spid="2">
                                            <p:txEl>
                                              <p:pRg st="2" end="2"/>
                                            </p:txEl>
                                          </p:spTgt>
                                        </p:tgtEl>
                                      </p:cBhvr>
                                    </p:animEffect>
                                    <p:anim calcmode="lin" valueType="num">
                                      <p:cBhvr>
                                        <p:cTn id="27"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8" dur="1000" fill="hold"/>
                                        <p:tgtEl>
                                          <p:spTgt spid="2">
                                            <p:txEl>
                                              <p:pRg st="2" end="2"/>
                                            </p:txEl>
                                          </p:spTgt>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2">
                                            <p:txEl>
                                              <p:pRg st="3" end="3"/>
                                            </p:txEl>
                                          </p:spTgt>
                                        </p:tgtEl>
                                        <p:attrNameLst>
                                          <p:attrName>style.visibility</p:attrName>
                                        </p:attrNameLst>
                                      </p:cBhvr>
                                      <p:to>
                                        <p:strVal val="visible"/>
                                      </p:to>
                                    </p:set>
                                    <p:animEffect transition="in" filter="fade">
                                      <p:cBhvr>
                                        <p:cTn id="31" dur="1000"/>
                                        <p:tgtEl>
                                          <p:spTgt spid="2">
                                            <p:txEl>
                                              <p:pRg st="3" end="3"/>
                                            </p:txEl>
                                          </p:spTgt>
                                        </p:tgtEl>
                                      </p:cBhvr>
                                    </p:animEffect>
                                    <p:anim calcmode="lin" valueType="num">
                                      <p:cBhvr>
                                        <p:cTn id="32"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3"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2">
                                            <p:txEl>
                                              <p:pRg st="4" end="4"/>
                                            </p:txEl>
                                          </p:spTgt>
                                        </p:tgtEl>
                                        <p:attrNameLst>
                                          <p:attrName>style.visibility</p:attrName>
                                        </p:attrNameLst>
                                      </p:cBhvr>
                                      <p:to>
                                        <p:strVal val="visible"/>
                                      </p:to>
                                    </p:set>
                                    <p:animEffect transition="in" filter="fade">
                                      <p:cBhvr>
                                        <p:cTn id="38" dur="1000"/>
                                        <p:tgtEl>
                                          <p:spTgt spid="2">
                                            <p:txEl>
                                              <p:pRg st="4" end="4"/>
                                            </p:txEl>
                                          </p:spTgt>
                                        </p:tgtEl>
                                      </p:cBhvr>
                                    </p:animEffect>
                                    <p:anim calcmode="lin" valueType="num">
                                      <p:cBhvr>
                                        <p:cTn id="39"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0" dur="1000" fill="hold"/>
                                        <p:tgtEl>
                                          <p:spTgt spid="2">
                                            <p:txEl>
                                              <p:pRg st="4" end="4"/>
                                            </p:txEl>
                                          </p:spTgt>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2">
                                            <p:txEl>
                                              <p:pRg st="5" end="5"/>
                                            </p:txEl>
                                          </p:spTgt>
                                        </p:tgtEl>
                                        <p:attrNameLst>
                                          <p:attrName>style.visibility</p:attrName>
                                        </p:attrNameLst>
                                      </p:cBhvr>
                                      <p:to>
                                        <p:strVal val="visible"/>
                                      </p:to>
                                    </p:set>
                                    <p:animEffect transition="in" filter="fade">
                                      <p:cBhvr>
                                        <p:cTn id="43" dur="1000"/>
                                        <p:tgtEl>
                                          <p:spTgt spid="2">
                                            <p:txEl>
                                              <p:pRg st="5" end="5"/>
                                            </p:txEl>
                                          </p:spTgt>
                                        </p:tgtEl>
                                      </p:cBhvr>
                                    </p:animEffect>
                                    <p:anim calcmode="lin" valueType="num">
                                      <p:cBhvr>
                                        <p:cTn id="44"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45"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42" presetClass="entr" presetSubtype="0" fill="hold" grpId="0" nodeType="clickEffect">
                                  <p:stCondLst>
                                    <p:cond delay="0"/>
                                  </p:stCondLst>
                                  <p:childTnLst>
                                    <p:set>
                                      <p:cBhvr>
                                        <p:cTn id="49" dur="1" fill="hold">
                                          <p:stCondLst>
                                            <p:cond delay="0"/>
                                          </p:stCondLst>
                                        </p:cTn>
                                        <p:tgtEl>
                                          <p:spTgt spid="2">
                                            <p:txEl>
                                              <p:pRg st="6" end="6"/>
                                            </p:txEl>
                                          </p:spTgt>
                                        </p:tgtEl>
                                        <p:attrNameLst>
                                          <p:attrName>style.visibility</p:attrName>
                                        </p:attrNameLst>
                                      </p:cBhvr>
                                      <p:to>
                                        <p:strVal val="visible"/>
                                      </p:to>
                                    </p:set>
                                    <p:animEffect transition="in" filter="fade">
                                      <p:cBhvr>
                                        <p:cTn id="50" dur="1000"/>
                                        <p:tgtEl>
                                          <p:spTgt spid="2">
                                            <p:txEl>
                                              <p:pRg st="6" end="6"/>
                                            </p:txEl>
                                          </p:spTgt>
                                        </p:tgtEl>
                                      </p:cBhvr>
                                    </p:animEffect>
                                    <p:anim calcmode="lin" valueType="num">
                                      <p:cBhvr>
                                        <p:cTn id="51"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2" dur="1000" fill="hold"/>
                                        <p:tgtEl>
                                          <p:spTgt spid="2">
                                            <p:txEl>
                                              <p:pRg st="6" end="6"/>
                                            </p:txEl>
                                          </p:spTgt>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2">
                                            <p:txEl>
                                              <p:pRg st="7" end="7"/>
                                            </p:txEl>
                                          </p:spTgt>
                                        </p:tgtEl>
                                        <p:attrNameLst>
                                          <p:attrName>style.visibility</p:attrName>
                                        </p:attrNameLst>
                                      </p:cBhvr>
                                      <p:to>
                                        <p:strVal val="visible"/>
                                      </p:to>
                                    </p:set>
                                    <p:animEffect transition="in" filter="fade">
                                      <p:cBhvr>
                                        <p:cTn id="55" dur="1000"/>
                                        <p:tgtEl>
                                          <p:spTgt spid="2">
                                            <p:txEl>
                                              <p:pRg st="7" end="7"/>
                                            </p:txEl>
                                          </p:spTgt>
                                        </p:tgtEl>
                                      </p:cBhvr>
                                    </p:animEffect>
                                    <p:anim calcmode="lin" valueType="num">
                                      <p:cBhvr>
                                        <p:cTn id="56"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57"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60" presetID="42" presetClass="entr" presetSubtype="0" fill="hold" grpId="0" nodeType="clickEffect">
                                  <p:stCondLst>
                                    <p:cond delay="0"/>
                                  </p:stCondLst>
                                  <p:childTnLst>
                                    <p:set>
                                      <p:cBhvr>
                                        <p:cTn id="61" dur="1" fill="hold">
                                          <p:stCondLst>
                                            <p:cond delay="0"/>
                                          </p:stCondLst>
                                        </p:cTn>
                                        <p:tgtEl>
                                          <p:spTgt spid="2">
                                            <p:txEl>
                                              <p:pRg st="8" end="8"/>
                                            </p:txEl>
                                          </p:spTgt>
                                        </p:tgtEl>
                                        <p:attrNameLst>
                                          <p:attrName>style.visibility</p:attrName>
                                        </p:attrNameLst>
                                      </p:cBhvr>
                                      <p:to>
                                        <p:strVal val="visible"/>
                                      </p:to>
                                    </p:set>
                                    <p:animEffect transition="in" filter="fade">
                                      <p:cBhvr>
                                        <p:cTn id="62" dur="1000"/>
                                        <p:tgtEl>
                                          <p:spTgt spid="2">
                                            <p:txEl>
                                              <p:pRg st="8" end="8"/>
                                            </p:txEl>
                                          </p:spTgt>
                                        </p:tgtEl>
                                      </p:cBhvr>
                                    </p:animEffect>
                                    <p:anim calcmode="lin" valueType="num">
                                      <p:cBhvr>
                                        <p:cTn id="63" dur="1000" fill="hold"/>
                                        <p:tgtEl>
                                          <p:spTgt spid="2">
                                            <p:txEl>
                                              <p:pRg st="8" end="8"/>
                                            </p:txEl>
                                          </p:spTgt>
                                        </p:tgtEl>
                                        <p:attrNameLst>
                                          <p:attrName>ppt_x</p:attrName>
                                        </p:attrNameLst>
                                      </p:cBhvr>
                                      <p:tavLst>
                                        <p:tav tm="0">
                                          <p:val>
                                            <p:strVal val="#ppt_x"/>
                                          </p:val>
                                        </p:tav>
                                        <p:tav tm="100000">
                                          <p:val>
                                            <p:strVal val="#ppt_x"/>
                                          </p:val>
                                        </p:tav>
                                      </p:tavLst>
                                    </p:anim>
                                    <p:anim calcmode="lin" valueType="num">
                                      <p:cBhvr>
                                        <p:cTn id="64" dur="1000" fill="hold"/>
                                        <p:tgtEl>
                                          <p:spTgt spid="2">
                                            <p:txEl>
                                              <p:pRg st="8" end="8"/>
                                            </p:txEl>
                                          </p:spTgt>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
                                            <p:txEl>
                                              <p:pRg st="9" end="9"/>
                                            </p:txEl>
                                          </p:spTgt>
                                        </p:tgtEl>
                                        <p:attrNameLst>
                                          <p:attrName>style.visibility</p:attrName>
                                        </p:attrNameLst>
                                      </p:cBhvr>
                                      <p:to>
                                        <p:strVal val="visible"/>
                                      </p:to>
                                    </p:set>
                                    <p:animEffect transition="in" filter="fade">
                                      <p:cBhvr>
                                        <p:cTn id="67" dur="1000"/>
                                        <p:tgtEl>
                                          <p:spTgt spid="2">
                                            <p:txEl>
                                              <p:pRg st="9" end="9"/>
                                            </p:txEl>
                                          </p:spTgt>
                                        </p:tgtEl>
                                      </p:cBhvr>
                                    </p:animEffect>
                                    <p:anim calcmode="lin" valueType="num">
                                      <p:cBhvr>
                                        <p:cTn id="68" dur="1000" fill="hold"/>
                                        <p:tgtEl>
                                          <p:spTgt spid="2">
                                            <p:txEl>
                                              <p:pRg st="9" end="9"/>
                                            </p:txEl>
                                          </p:spTgt>
                                        </p:tgtEl>
                                        <p:attrNameLst>
                                          <p:attrName>ppt_x</p:attrName>
                                        </p:attrNameLst>
                                      </p:cBhvr>
                                      <p:tavLst>
                                        <p:tav tm="0">
                                          <p:val>
                                            <p:strVal val="#ppt_x"/>
                                          </p:val>
                                        </p:tav>
                                        <p:tav tm="100000">
                                          <p:val>
                                            <p:strVal val="#ppt_x"/>
                                          </p:val>
                                        </p:tav>
                                      </p:tavLst>
                                    </p:anim>
                                    <p:anim calcmode="lin" valueType="num">
                                      <p:cBhvr>
                                        <p:cTn id="69" dur="1000" fill="hold"/>
                                        <p:tgtEl>
                                          <p:spTgt spid="2">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grpId="0" nodeType="clickEffect">
                                  <p:stCondLst>
                                    <p:cond delay="0"/>
                                  </p:stCondLst>
                                  <p:childTnLst>
                                    <p:set>
                                      <p:cBhvr>
                                        <p:cTn id="73" dur="1" fill="hold">
                                          <p:stCondLst>
                                            <p:cond delay="0"/>
                                          </p:stCondLst>
                                        </p:cTn>
                                        <p:tgtEl>
                                          <p:spTgt spid="2">
                                            <p:txEl>
                                              <p:pRg st="10" end="10"/>
                                            </p:txEl>
                                          </p:spTgt>
                                        </p:tgtEl>
                                        <p:attrNameLst>
                                          <p:attrName>style.visibility</p:attrName>
                                        </p:attrNameLst>
                                      </p:cBhvr>
                                      <p:to>
                                        <p:strVal val="visible"/>
                                      </p:to>
                                    </p:set>
                                    <p:animEffect transition="in" filter="fade">
                                      <p:cBhvr>
                                        <p:cTn id="74" dur="1000"/>
                                        <p:tgtEl>
                                          <p:spTgt spid="2">
                                            <p:txEl>
                                              <p:pRg st="10" end="10"/>
                                            </p:txEl>
                                          </p:spTgt>
                                        </p:tgtEl>
                                      </p:cBhvr>
                                    </p:animEffect>
                                    <p:anim calcmode="lin" valueType="num">
                                      <p:cBhvr>
                                        <p:cTn id="75" dur="1000" fill="hold"/>
                                        <p:tgtEl>
                                          <p:spTgt spid="2">
                                            <p:txEl>
                                              <p:pRg st="10" end="10"/>
                                            </p:txEl>
                                          </p:spTgt>
                                        </p:tgtEl>
                                        <p:attrNameLst>
                                          <p:attrName>ppt_x</p:attrName>
                                        </p:attrNameLst>
                                      </p:cBhvr>
                                      <p:tavLst>
                                        <p:tav tm="0">
                                          <p:val>
                                            <p:strVal val="#ppt_x"/>
                                          </p:val>
                                        </p:tav>
                                        <p:tav tm="100000">
                                          <p:val>
                                            <p:strVal val="#ppt_x"/>
                                          </p:val>
                                        </p:tav>
                                      </p:tavLst>
                                    </p:anim>
                                    <p:anim calcmode="lin" valueType="num">
                                      <p:cBhvr>
                                        <p:cTn id="76" dur="1000" fill="hold"/>
                                        <p:tgtEl>
                                          <p:spTgt spid="2">
                                            <p:txEl>
                                              <p:pRg st="10" end="10"/>
                                            </p:txEl>
                                          </p:spTgt>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
                                            <p:txEl>
                                              <p:pRg st="11" end="11"/>
                                            </p:txEl>
                                          </p:spTgt>
                                        </p:tgtEl>
                                        <p:attrNameLst>
                                          <p:attrName>style.visibility</p:attrName>
                                        </p:attrNameLst>
                                      </p:cBhvr>
                                      <p:to>
                                        <p:strVal val="visible"/>
                                      </p:to>
                                    </p:set>
                                    <p:animEffect transition="in" filter="fade">
                                      <p:cBhvr>
                                        <p:cTn id="79" dur="1000"/>
                                        <p:tgtEl>
                                          <p:spTgt spid="2">
                                            <p:txEl>
                                              <p:pRg st="11" end="11"/>
                                            </p:txEl>
                                          </p:spTgt>
                                        </p:tgtEl>
                                      </p:cBhvr>
                                    </p:animEffect>
                                    <p:anim calcmode="lin" valueType="num">
                                      <p:cBhvr>
                                        <p:cTn id="80" dur="1000" fill="hold"/>
                                        <p:tgtEl>
                                          <p:spTgt spid="2">
                                            <p:txEl>
                                              <p:pRg st="11" end="11"/>
                                            </p:txEl>
                                          </p:spTgt>
                                        </p:tgtEl>
                                        <p:attrNameLst>
                                          <p:attrName>ppt_x</p:attrName>
                                        </p:attrNameLst>
                                      </p:cBhvr>
                                      <p:tavLst>
                                        <p:tav tm="0">
                                          <p:val>
                                            <p:strVal val="#ppt_x"/>
                                          </p:val>
                                        </p:tav>
                                        <p:tav tm="100000">
                                          <p:val>
                                            <p:strVal val="#ppt_x"/>
                                          </p:val>
                                        </p:tav>
                                      </p:tavLst>
                                    </p:anim>
                                    <p:anim calcmode="lin" valueType="num">
                                      <p:cBhvr>
                                        <p:cTn id="81" dur="1000" fill="hold"/>
                                        <p:tgtEl>
                                          <p:spTgt spid="2">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1"/>
          <a:stretch>
            <a:fillRect/>
          </a:stretch>
        </p:blipFill>
        <p:spPr>
          <a:xfrm>
            <a:off x="467359" y="6410461"/>
            <a:ext cx="3706253" cy="296092"/>
          </a:xfrm>
          <a:prstGeom prst="rect">
            <a:avLst/>
          </a:prstGeom>
        </p:spPr>
      </p:pic>
      <p:pic>
        <p:nvPicPr>
          <p:cNvPr id="2" name="Picture 1"/>
          <p:cNvPicPr>
            <a:picLocks noChangeAspect="1"/>
          </p:cNvPicPr>
          <p:nvPr/>
        </p:nvPicPr>
        <p:blipFill>
          <a:blip r:embed="rId2"/>
          <a:stretch>
            <a:fillRect/>
          </a:stretch>
        </p:blipFill>
        <p:spPr>
          <a:xfrm flipH="1">
            <a:off x="50800" y="3820160"/>
            <a:ext cx="1727200" cy="3010024"/>
          </a:xfrm>
          <a:prstGeom prst="rect">
            <a:avLst/>
          </a:prstGeom>
        </p:spPr>
      </p:pic>
      <p:sp>
        <p:nvSpPr>
          <p:cNvPr id="7" name="Text Placeholder 6"/>
          <p:cNvSpPr>
            <a:spLocks noGrp="1"/>
          </p:cNvSpPr>
          <p:nvPr>
            <p:ph type="body" sz="quarter" idx="12"/>
          </p:nvPr>
        </p:nvSpPr>
        <p:spPr>
          <a:xfrm>
            <a:off x="660400" y="1432560"/>
            <a:ext cx="5721350" cy="4404360"/>
          </a:xfrm>
        </p:spPr>
        <p:txBody>
          <a:bodyPr>
            <a:normAutofit fontScale="50000"/>
          </a:bodyPr>
          <a:lstStyle/>
          <a:p>
            <a:pPr marL="457200" lvl="1" indent="0">
              <a:lnSpc>
                <a:spcPct val="120000"/>
              </a:lnSpc>
              <a:buNone/>
            </a:pPr>
            <a:r>
              <a:rPr lang="en-IN" sz="3400" dirty="0">
                <a:solidFill>
                  <a:schemeClr val="tx1"/>
                </a:solidFill>
              </a:rPr>
              <a:t>Programming Language</a:t>
            </a:r>
            <a:r>
              <a:rPr lang="en-US" altLang="en-IN" sz="3400" dirty="0">
                <a:solidFill>
                  <a:schemeClr val="tx1"/>
                </a:solidFill>
              </a:rPr>
              <a:t> : </a:t>
            </a:r>
            <a:r>
              <a:rPr lang="en-IN" sz="3400" dirty="0">
                <a:solidFill>
                  <a:schemeClr val="tx1"/>
                </a:solidFill>
              </a:rPr>
              <a:t> Python</a:t>
            </a:r>
            <a:endParaRPr lang="en-IN" sz="3400" dirty="0">
              <a:solidFill>
                <a:schemeClr val="tx1"/>
              </a:solidFill>
            </a:endParaRPr>
          </a:p>
          <a:p>
            <a:pPr marL="457200" lvl="1" indent="0">
              <a:lnSpc>
                <a:spcPct val="120000"/>
              </a:lnSpc>
              <a:buNone/>
            </a:pPr>
            <a:r>
              <a:rPr lang="en-IN" sz="3400" dirty="0">
                <a:solidFill>
                  <a:schemeClr val="tx1"/>
                </a:solidFill>
              </a:rPr>
              <a:t>Development Environment</a:t>
            </a:r>
            <a:r>
              <a:rPr lang="en-US" altLang="en-IN" sz="3400" dirty="0">
                <a:solidFill>
                  <a:schemeClr val="tx1"/>
                </a:solidFill>
              </a:rPr>
              <a:t> :</a:t>
            </a:r>
            <a:r>
              <a:rPr lang="en-IN" sz="3400" dirty="0">
                <a:solidFill>
                  <a:schemeClr val="tx1"/>
                </a:solidFill>
              </a:rPr>
              <a:t> Jupyter Notebook</a:t>
            </a:r>
            <a:endParaRPr lang="en-IN" sz="3400" dirty="0">
              <a:solidFill>
                <a:schemeClr val="tx1"/>
              </a:solidFill>
            </a:endParaRPr>
          </a:p>
          <a:p>
            <a:pPr marL="457200" lvl="1" indent="0">
              <a:lnSpc>
                <a:spcPct val="120000"/>
              </a:lnSpc>
              <a:buNone/>
            </a:pPr>
            <a:r>
              <a:rPr lang="en-IN" sz="3400" dirty="0">
                <a:solidFill>
                  <a:schemeClr val="tx1"/>
                </a:solidFill>
              </a:rPr>
              <a:t>Libraries</a:t>
            </a:r>
            <a:r>
              <a:rPr lang="en-US" altLang="en-IN" sz="3400" dirty="0">
                <a:solidFill>
                  <a:schemeClr val="tx1"/>
                </a:solidFill>
              </a:rPr>
              <a:t> :</a:t>
            </a:r>
            <a:endParaRPr lang="en-IN" sz="3400" dirty="0">
              <a:solidFill>
                <a:schemeClr val="tx1"/>
              </a:solidFill>
            </a:endParaRPr>
          </a:p>
          <a:p>
            <a:pPr lvl="2">
              <a:lnSpc>
                <a:spcPct val="120000"/>
              </a:lnSpc>
              <a:buSzPct val="100000"/>
              <a:buFont typeface="Arial" panose="020B0604020202020204" pitchFamily="34" charset="0"/>
              <a:buChar char="•"/>
            </a:pPr>
            <a:r>
              <a:rPr lang="en-IN" sz="3400" dirty="0">
                <a:solidFill>
                  <a:schemeClr val="tx1"/>
                </a:solidFill>
              </a:rPr>
              <a:t>Pandas </a:t>
            </a:r>
            <a:r>
              <a:rPr lang="en-US" altLang="en-IN" sz="3400" dirty="0">
                <a:solidFill>
                  <a:schemeClr val="tx1"/>
                </a:solidFill>
              </a:rPr>
              <a:t>-</a:t>
            </a:r>
            <a:r>
              <a:rPr lang="en-IN" sz="3400" dirty="0">
                <a:solidFill>
                  <a:schemeClr val="tx1"/>
                </a:solidFill>
              </a:rPr>
              <a:t> Data manipulation and analysis</a:t>
            </a:r>
            <a:endParaRPr lang="en-IN" sz="3400" dirty="0">
              <a:solidFill>
                <a:schemeClr val="tx1"/>
              </a:solidFill>
            </a:endParaRPr>
          </a:p>
          <a:p>
            <a:pPr lvl="2">
              <a:lnSpc>
                <a:spcPct val="120000"/>
              </a:lnSpc>
              <a:buSzPct val="100000"/>
              <a:buFont typeface="Arial" panose="020B0604020202020204" pitchFamily="34" charset="0"/>
              <a:buChar char="•"/>
            </a:pPr>
            <a:r>
              <a:rPr lang="en-IN" sz="3400" dirty="0">
                <a:solidFill>
                  <a:schemeClr val="tx1"/>
                </a:solidFill>
              </a:rPr>
              <a:t>NumPy </a:t>
            </a:r>
            <a:r>
              <a:rPr lang="en-US" altLang="en-IN" sz="3400" dirty="0">
                <a:solidFill>
                  <a:schemeClr val="tx1"/>
                </a:solidFill>
              </a:rPr>
              <a:t>-</a:t>
            </a:r>
            <a:r>
              <a:rPr lang="en-IN" sz="3400" dirty="0">
                <a:solidFill>
                  <a:schemeClr val="tx1"/>
                </a:solidFill>
              </a:rPr>
              <a:t> Numerical computation</a:t>
            </a:r>
            <a:endParaRPr lang="en-IN" sz="3400" dirty="0">
              <a:solidFill>
                <a:schemeClr val="tx1"/>
              </a:solidFill>
            </a:endParaRPr>
          </a:p>
          <a:p>
            <a:pPr lvl="2">
              <a:lnSpc>
                <a:spcPct val="120000"/>
              </a:lnSpc>
              <a:buSzPct val="100000"/>
              <a:buFont typeface="Arial" panose="020B0604020202020204" pitchFamily="34" charset="0"/>
              <a:buChar char="•"/>
            </a:pPr>
            <a:r>
              <a:rPr lang="en-IN" sz="3400" dirty="0">
                <a:solidFill>
                  <a:schemeClr val="tx1"/>
                </a:solidFill>
              </a:rPr>
              <a:t>Matplotlib </a:t>
            </a:r>
            <a:r>
              <a:rPr lang="en-US" altLang="en-IN" sz="3400" dirty="0">
                <a:solidFill>
                  <a:schemeClr val="tx1"/>
                </a:solidFill>
              </a:rPr>
              <a:t>-</a:t>
            </a:r>
            <a:r>
              <a:rPr lang="en-IN" sz="3400" dirty="0">
                <a:solidFill>
                  <a:schemeClr val="tx1"/>
                </a:solidFill>
              </a:rPr>
              <a:t> Data visualization</a:t>
            </a:r>
            <a:endParaRPr lang="en-IN" sz="3400" dirty="0">
              <a:solidFill>
                <a:schemeClr val="tx1"/>
              </a:solidFill>
            </a:endParaRPr>
          </a:p>
          <a:p>
            <a:pPr lvl="2">
              <a:lnSpc>
                <a:spcPct val="120000"/>
              </a:lnSpc>
              <a:buSzPct val="100000"/>
              <a:buFont typeface="Arial" panose="020B0604020202020204" pitchFamily="34" charset="0"/>
              <a:buChar char="•"/>
            </a:pPr>
            <a:r>
              <a:rPr lang="en-IN" sz="3400" dirty="0">
                <a:solidFill>
                  <a:schemeClr val="tx1"/>
                </a:solidFill>
              </a:rPr>
              <a:t>Seaborn </a:t>
            </a:r>
            <a:r>
              <a:rPr lang="en-US" altLang="en-IN" sz="3400" dirty="0">
                <a:solidFill>
                  <a:schemeClr val="tx1"/>
                </a:solidFill>
              </a:rPr>
              <a:t>-</a:t>
            </a:r>
            <a:r>
              <a:rPr lang="en-IN" sz="3400" dirty="0">
                <a:solidFill>
                  <a:schemeClr val="tx1"/>
                </a:solidFill>
              </a:rPr>
              <a:t> Statistical visualization</a:t>
            </a:r>
            <a:endParaRPr lang="en-IN" sz="3400" dirty="0">
              <a:solidFill>
                <a:schemeClr val="tx1"/>
              </a:solidFill>
            </a:endParaRPr>
          </a:p>
          <a:p>
            <a:pPr lvl="2">
              <a:lnSpc>
                <a:spcPct val="120000"/>
              </a:lnSpc>
              <a:buSzPct val="100000"/>
              <a:buFont typeface="Arial" panose="020B0604020202020204" pitchFamily="34" charset="0"/>
              <a:buChar char="•"/>
            </a:pPr>
            <a:r>
              <a:rPr lang="en-IN" sz="3400" dirty="0">
                <a:solidFill>
                  <a:schemeClr val="tx1"/>
                </a:solidFill>
              </a:rPr>
              <a:t>SciPy </a:t>
            </a:r>
            <a:r>
              <a:rPr lang="en-US" altLang="en-IN" sz="3400" dirty="0">
                <a:solidFill>
                  <a:schemeClr val="tx1"/>
                </a:solidFill>
              </a:rPr>
              <a:t>-</a:t>
            </a:r>
            <a:r>
              <a:rPr lang="en-IN" sz="3400" dirty="0">
                <a:solidFill>
                  <a:schemeClr val="tx1"/>
                </a:solidFill>
              </a:rPr>
              <a:t> Statistical analysis</a:t>
            </a:r>
            <a:endParaRPr lang="en-IN" sz="3400" dirty="0">
              <a:solidFill>
                <a:schemeClr val="tx1"/>
              </a:solidFill>
            </a:endParaRPr>
          </a:p>
          <a:p>
            <a:pPr lvl="2">
              <a:lnSpc>
                <a:spcPct val="120000"/>
              </a:lnSpc>
              <a:buSzPct val="100000"/>
              <a:buFont typeface="Arial" panose="020B0604020202020204" pitchFamily="34" charset="0"/>
              <a:buChar char="•"/>
            </a:pPr>
            <a:r>
              <a:rPr lang="en-IN" sz="3400" dirty="0">
                <a:solidFill>
                  <a:schemeClr val="tx1"/>
                </a:solidFill>
              </a:rPr>
              <a:t>Scikit-learn </a:t>
            </a:r>
            <a:r>
              <a:rPr lang="en-US" altLang="en-IN" sz="3400" dirty="0">
                <a:solidFill>
                  <a:schemeClr val="tx1"/>
                </a:solidFill>
              </a:rPr>
              <a:t>-</a:t>
            </a:r>
            <a:r>
              <a:rPr lang="en-IN" sz="3400" dirty="0">
                <a:solidFill>
                  <a:schemeClr val="tx1"/>
                </a:solidFill>
              </a:rPr>
              <a:t> Machine learning and predictive analysis</a:t>
            </a:r>
            <a:endParaRPr lang="en-IN" sz="3400" dirty="0">
              <a:solidFill>
                <a:schemeClr val="tx1"/>
              </a:solidFill>
            </a:endParaRPr>
          </a:p>
          <a:p>
            <a:pPr lvl="1">
              <a:lnSpc>
                <a:spcPct val="120000"/>
              </a:lnSpc>
              <a:buNone/>
            </a:pPr>
            <a:endParaRPr lang="en-IN" sz="3400" dirty="0">
              <a:solidFill>
                <a:schemeClr val="tx1"/>
              </a:solidFill>
            </a:endParaRPr>
          </a:p>
        </p:txBody>
      </p:sp>
      <p:sp>
        <p:nvSpPr>
          <p:cNvPr id="9" name="Title 8"/>
          <p:cNvSpPr>
            <a:spLocks noGrp="1"/>
          </p:cNvSpPr>
          <p:nvPr>
            <p:ph type="title"/>
          </p:nvPr>
        </p:nvSpPr>
        <p:spPr>
          <a:xfrm>
            <a:off x="660399" y="430567"/>
            <a:ext cx="5306291" cy="847817"/>
          </a:xfrm>
        </p:spPr>
        <p:txBody>
          <a:bodyPr>
            <a:normAutofit/>
          </a:bodyPr>
          <a:lstStyle/>
          <a:p>
            <a:r>
              <a:rPr lang="en-US" dirty="0"/>
              <a:t>Technology Used</a:t>
            </a:r>
            <a:endParaRPr lang="en-US" dirty="0"/>
          </a:p>
        </p:txBody>
      </p:sp>
      <p:sp>
        <p:nvSpPr>
          <p:cNvPr id="4" name="Text Box 3"/>
          <p:cNvSpPr txBox="1"/>
          <p:nvPr/>
        </p:nvSpPr>
        <p:spPr>
          <a:xfrm>
            <a:off x="6200140" y="1432560"/>
            <a:ext cx="4530090" cy="4118610"/>
          </a:xfrm>
          <a:prstGeom prst="rect">
            <a:avLst/>
          </a:prstGeom>
          <a:noFill/>
        </p:spPr>
        <p:txBody>
          <a:bodyPr wrap="square" rtlCol="0">
            <a:spAutoFit/>
          </a:bodyPr>
          <a:p>
            <a:pPr lvl="1">
              <a:lnSpc>
                <a:spcPct val="140000"/>
              </a:lnSpc>
              <a:buNone/>
            </a:pPr>
            <a:r>
              <a:rPr lang="en-IN" sz="1700" dirty="0">
                <a:sym typeface="+mn-ea"/>
              </a:rPr>
              <a:t>Techniques Used</a:t>
            </a:r>
            <a:r>
              <a:rPr lang="en-US" altLang="en-IN" sz="1700" dirty="0">
                <a:sym typeface="+mn-ea"/>
              </a:rPr>
              <a:t> : </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Data Cleaning</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Exploratory Data Analysis</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Descriptive Statistics</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Correlation Analysis</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ANOVA</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Data Visualization</a:t>
            </a:r>
            <a:endParaRPr lang="en-IN" sz="1700" dirty="0"/>
          </a:p>
          <a:p>
            <a:pPr marL="1200150" lvl="2" indent="-285750">
              <a:lnSpc>
                <a:spcPct val="140000"/>
              </a:lnSpc>
              <a:buClr>
                <a:srgbClr val="2E946B"/>
              </a:buClr>
              <a:buFont typeface="Arial" panose="020B0604020202020204" pitchFamily="34" charset="0"/>
              <a:buChar char="•"/>
            </a:pPr>
            <a:r>
              <a:rPr lang="en-IN" sz="1700" dirty="0">
                <a:sym typeface="+mn-ea"/>
              </a:rPr>
              <a:t>Random Forest Regression</a:t>
            </a:r>
            <a:endParaRPr lang="en-IN" sz="1700" dirty="0"/>
          </a:p>
          <a:p>
            <a:pPr marL="742950" lvl="1" indent="-285750">
              <a:lnSpc>
                <a:spcPct val="140000"/>
              </a:lnSpc>
              <a:buNone/>
            </a:pPr>
            <a:r>
              <a:rPr lang="en-IN" sz="1700" dirty="0">
                <a:sym typeface="+mn-ea"/>
              </a:rPr>
              <a:t>Dataset</a:t>
            </a:r>
            <a:r>
              <a:rPr lang="en-US" altLang="en-IN" sz="1700" dirty="0">
                <a:sym typeface="+mn-ea"/>
              </a:rPr>
              <a:t> : </a:t>
            </a:r>
            <a:r>
              <a:rPr lang="en-IN" sz="1700" dirty="0">
                <a:sym typeface="+mn-ea"/>
              </a:rPr>
              <a:t>Seasonal Agriculture</a:t>
            </a:r>
            <a:r>
              <a:rPr lang="en-US" altLang="en-IN" sz="1700" dirty="0">
                <a:sym typeface="+mn-ea"/>
              </a:rPr>
              <a:t> </a:t>
            </a:r>
            <a:r>
              <a:rPr lang="en-IN" sz="1700" dirty="0">
                <a:sym typeface="+mn-ea"/>
              </a:rPr>
              <a:t>Performance Dataset</a:t>
            </a:r>
            <a:endParaRPr lang="en-IN" sz="1700" dirty="0"/>
          </a:p>
          <a:p>
            <a:pPr>
              <a:lnSpc>
                <a:spcPct val="140000"/>
              </a:lnSpc>
            </a:pPr>
            <a:endParaRPr lang="en-US" sz="17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Effect transition="in" filter="fade">
                                      <p:cBhvr>
                                        <p:cTn id="19" dur="1000"/>
                                        <p:tgtEl>
                                          <p:spTgt spid="7">
                                            <p:txEl>
                                              <p:pRg st="1" end="1"/>
                                            </p:txEl>
                                          </p:spTgt>
                                        </p:tgtEl>
                                      </p:cBhvr>
                                    </p:animEffect>
                                    <p:anim calcmode="lin" valueType="num">
                                      <p:cBhvr>
                                        <p:cTn id="20"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1" end="1"/>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1000"/>
                                        <p:tgtEl>
                                          <p:spTgt spid="7">
                                            <p:txEl>
                                              <p:pRg st="2" end="2"/>
                                            </p:txEl>
                                          </p:spTgt>
                                        </p:tgtEl>
                                      </p:cBhvr>
                                    </p:animEffect>
                                    <p:anim calcmode="lin" valueType="num">
                                      <p:cBhvr>
                                        <p:cTn id="2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xEl>
                                              <p:pRg st="3" end="3"/>
                                            </p:txEl>
                                          </p:spTgt>
                                        </p:tgtEl>
                                        <p:attrNameLst>
                                          <p:attrName>style.visibility</p:attrName>
                                        </p:attrNameLst>
                                      </p:cBhvr>
                                      <p:to>
                                        <p:strVal val="visible"/>
                                      </p:to>
                                    </p:set>
                                    <p:animEffect transition="in" filter="fade">
                                      <p:cBhvr>
                                        <p:cTn id="29" dur="1000"/>
                                        <p:tgtEl>
                                          <p:spTgt spid="7">
                                            <p:txEl>
                                              <p:pRg st="3" end="3"/>
                                            </p:txEl>
                                          </p:spTgt>
                                        </p:tgtEl>
                                      </p:cBhvr>
                                    </p:animEffect>
                                    <p:anim calcmode="lin" valueType="num">
                                      <p:cBhvr>
                                        <p:cTn id="30"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3" end="3"/>
                                            </p:txEl>
                                          </p:spTgt>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7">
                                            <p:txEl>
                                              <p:pRg st="4" end="4"/>
                                            </p:txEl>
                                          </p:spTgt>
                                        </p:tgtEl>
                                        <p:attrNameLst>
                                          <p:attrName>style.visibility</p:attrName>
                                        </p:attrNameLst>
                                      </p:cBhvr>
                                      <p:to>
                                        <p:strVal val="visible"/>
                                      </p:to>
                                    </p:set>
                                    <p:animEffect transition="in" filter="fade">
                                      <p:cBhvr>
                                        <p:cTn id="34" dur="1000"/>
                                        <p:tgtEl>
                                          <p:spTgt spid="7">
                                            <p:txEl>
                                              <p:pRg st="4" end="4"/>
                                            </p:txEl>
                                          </p:spTgt>
                                        </p:tgtEl>
                                      </p:cBhvr>
                                    </p:animEffect>
                                    <p:anim calcmode="lin" valueType="num">
                                      <p:cBhvr>
                                        <p:cTn id="35"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6" dur="1000" fill="hold"/>
                                        <p:tgtEl>
                                          <p:spTgt spid="7">
                                            <p:txEl>
                                              <p:pRg st="4" end="4"/>
                                            </p:txEl>
                                          </p:spTgt>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7">
                                            <p:txEl>
                                              <p:pRg st="5" end="5"/>
                                            </p:txEl>
                                          </p:spTgt>
                                        </p:tgtEl>
                                        <p:attrNameLst>
                                          <p:attrName>style.visibility</p:attrName>
                                        </p:attrNameLst>
                                      </p:cBhvr>
                                      <p:to>
                                        <p:strVal val="visible"/>
                                      </p:to>
                                    </p:set>
                                    <p:animEffect transition="in" filter="fade">
                                      <p:cBhvr>
                                        <p:cTn id="39" dur="1000"/>
                                        <p:tgtEl>
                                          <p:spTgt spid="7">
                                            <p:txEl>
                                              <p:pRg st="5" end="5"/>
                                            </p:txEl>
                                          </p:spTgt>
                                        </p:tgtEl>
                                      </p:cBhvr>
                                    </p:animEffect>
                                    <p:anim calcmode="lin" valueType="num">
                                      <p:cBhvr>
                                        <p:cTn id="4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1" dur="1000" fill="hold"/>
                                        <p:tgtEl>
                                          <p:spTgt spid="7">
                                            <p:txEl>
                                              <p:pRg st="5" end="5"/>
                                            </p:txEl>
                                          </p:spTgt>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7">
                                            <p:txEl>
                                              <p:pRg st="6" end="6"/>
                                            </p:txEl>
                                          </p:spTgt>
                                        </p:tgtEl>
                                        <p:attrNameLst>
                                          <p:attrName>style.visibility</p:attrName>
                                        </p:attrNameLst>
                                      </p:cBhvr>
                                      <p:to>
                                        <p:strVal val="visible"/>
                                      </p:to>
                                    </p:set>
                                    <p:animEffect transition="in" filter="fade">
                                      <p:cBhvr>
                                        <p:cTn id="44" dur="1000"/>
                                        <p:tgtEl>
                                          <p:spTgt spid="7">
                                            <p:txEl>
                                              <p:pRg st="6" end="6"/>
                                            </p:txEl>
                                          </p:spTgt>
                                        </p:tgtEl>
                                      </p:cBhvr>
                                    </p:animEffect>
                                    <p:anim calcmode="lin" valueType="num">
                                      <p:cBhvr>
                                        <p:cTn id="45"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46" dur="1000" fill="hold"/>
                                        <p:tgtEl>
                                          <p:spTgt spid="7">
                                            <p:txEl>
                                              <p:pRg st="6" end="6"/>
                                            </p:txEl>
                                          </p:spTgt>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7">
                                            <p:txEl>
                                              <p:pRg st="7" end="7"/>
                                            </p:txEl>
                                          </p:spTgt>
                                        </p:tgtEl>
                                        <p:attrNameLst>
                                          <p:attrName>style.visibility</p:attrName>
                                        </p:attrNameLst>
                                      </p:cBhvr>
                                      <p:to>
                                        <p:strVal val="visible"/>
                                      </p:to>
                                    </p:set>
                                    <p:animEffect transition="in" filter="fade">
                                      <p:cBhvr>
                                        <p:cTn id="49" dur="1000"/>
                                        <p:tgtEl>
                                          <p:spTgt spid="7">
                                            <p:txEl>
                                              <p:pRg st="7" end="7"/>
                                            </p:txEl>
                                          </p:spTgt>
                                        </p:tgtEl>
                                      </p:cBhvr>
                                    </p:animEffect>
                                    <p:anim calcmode="lin" valueType="num">
                                      <p:cBhvr>
                                        <p:cTn id="50"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7" end="7"/>
                                            </p:txEl>
                                          </p:spTgt>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fade">
                                      <p:cBhvr>
                                        <p:cTn id="54" dur="1000"/>
                                        <p:tgtEl>
                                          <p:spTgt spid="7">
                                            <p:txEl>
                                              <p:pRg st="8" end="8"/>
                                            </p:txEl>
                                          </p:spTgt>
                                        </p:tgtEl>
                                      </p:cBhvr>
                                    </p:animEffect>
                                    <p:anim calcmode="lin" valueType="num">
                                      <p:cBhvr>
                                        <p:cTn id="55"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56"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2"/>
          <a:stretch>
            <a:fillRect/>
          </a:stretch>
        </p:blipFill>
        <p:spPr>
          <a:xfrm>
            <a:off x="525145" y="1123950"/>
            <a:ext cx="4591050" cy="2834640"/>
          </a:xfrm>
          <a:prstGeom prst="rect">
            <a:avLst/>
          </a:prstGeom>
          <a:effectLst>
            <a:glow rad="63500">
              <a:schemeClr val="accent1">
                <a:satMod val="175000"/>
                <a:alpha val="40000"/>
              </a:schemeClr>
            </a:glow>
          </a:effectLst>
        </p:spPr>
      </p:pic>
      <p:pic>
        <p:nvPicPr>
          <p:cNvPr id="3" name="Picture 2"/>
          <p:cNvPicPr>
            <a:picLocks noChangeAspect="1"/>
          </p:cNvPicPr>
          <p:nvPr/>
        </p:nvPicPr>
        <p:blipFill>
          <a:blip r:embed="rId3"/>
          <a:stretch>
            <a:fillRect/>
          </a:stretch>
        </p:blipFill>
        <p:spPr>
          <a:xfrm>
            <a:off x="5732780" y="4037330"/>
            <a:ext cx="5034915" cy="2712720"/>
          </a:xfrm>
          <a:prstGeom prst="rect">
            <a:avLst/>
          </a:prstGeom>
          <a:effectLst>
            <a:glow rad="63500">
              <a:schemeClr val="accent1">
                <a:satMod val="175000"/>
                <a:alpha val="40000"/>
              </a:schemeClr>
            </a:glow>
          </a:effectLst>
        </p:spPr>
      </p:pic>
      <p:pic>
        <p:nvPicPr>
          <p:cNvPr id="6" name="Picture 5"/>
          <p:cNvPicPr>
            <a:picLocks noChangeAspect="1"/>
          </p:cNvPicPr>
          <p:nvPr/>
        </p:nvPicPr>
        <p:blipFill>
          <a:blip r:embed="rId4"/>
          <a:stretch>
            <a:fillRect/>
          </a:stretch>
        </p:blipFill>
        <p:spPr>
          <a:xfrm>
            <a:off x="5977255" y="1123950"/>
            <a:ext cx="4545330" cy="2806065"/>
          </a:xfrm>
          <a:prstGeom prst="rect">
            <a:avLst/>
          </a:prstGeom>
          <a:effectLst>
            <a:glow rad="63500">
              <a:schemeClr val="accent1">
                <a:satMod val="175000"/>
                <a:alpha val="40000"/>
              </a:schemeClr>
            </a:glow>
          </a:effectLst>
        </p:spPr>
      </p:pic>
      <p:sp>
        <p:nvSpPr>
          <p:cNvPr id="9" name="Text Box 8"/>
          <p:cNvSpPr txBox="1"/>
          <p:nvPr/>
        </p:nvSpPr>
        <p:spPr>
          <a:xfrm>
            <a:off x="525145" y="4131310"/>
            <a:ext cx="4723765" cy="2168525"/>
          </a:xfrm>
          <a:prstGeom prst="rect">
            <a:avLst/>
          </a:prstGeom>
          <a:noFill/>
        </p:spPr>
        <p:txBody>
          <a:bodyPr wrap="square" rtlCol="0" anchor="t">
            <a:spAutoFit/>
          </a:bodyPr>
          <a:p>
            <a:r>
              <a:rPr lang="en-US" sz="1500"/>
              <a:t>Key Observations :</a:t>
            </a:r>
            <a:endParaRPr lang="en-US" sz="1500"/>
          </a:p>
          <a:p>
            <a:pPr marL="285750" indent="-285750">
              <a:buFont typeface="Arial" panose="020B0604020202020204" pitchFamily="34" charset="0"/>
              <a:buChar char="•"/>
            </a:pPr>
            <a:endParaRPr lang="en-US" sz="1500"/>
          </a:p>
          <a:p>
            <a:pPr marL="285750" indent="-285750">
              <a:buClr>
                <a:srgbClr val="2E946B"/>
              </a:buClr>
              <a:buFont typeface="Arial" panose="020B0604020202020204" pitchFamily="34" charset="0"/>
              <a:buChar char="•"/>
            </a:pPr>
            <a:r>
              <a:rPr lang="en-US" sz="1500"/>
              <a:t>Agricultural performance varies across seasons.</a:t>
            </a:r>
            <a:endParaRPr lang="en-US" sz="1500"/>
          </a:p>
          <a:p>
            <a:pPr marL="285750" indent="-285750">
              <a:buClr>
                <a:srgbClr val="2E946B"/>
              </a:buClr>
              <a:buFont typeface="Arial" panose="020B0604020202020204" pitchFamily="34" charset="0"/>
              <a:buChar char="•"/>
            </a:pPr>
            <a:r>
              <a:rPr lang="en-US" sz="1500"/>
              <a:t>Yield and production show differences between seasonal conditions.</a:t>
            </a:r>
            <a:endParaRPr lang="en-US" sz="1500"/>
          </a:p>
          <a:p>
            <a:pPr marL="285750" indent="-285750">
              <a:buClr>
                <a:srgbClr val="2E946B"/>
              </a:buClr>
              <a:buFont typeface="Arial" panose="020B0604020202020204" pitchFamily="34" charset="0"/>
              <a:buChar char="•"/>
            </a:pPr>
            <a:r>
              <a:rPr lang="en-US" sz="1500"/>
              <a:t>Profitability is influenced by both production and associated costs.</a:t>
            </a:r>
            <a:endParaRPr lang="en-US" sz="1500"/>
          </a:p>
          <a:p>
            <a:pPr marL="285750" indent="-285750">
              <a:buClr>
                <a:srgbClr val="2E946B"/>
              </a:buClr>
              <a:buFont typeface="Arial" panose="020B0604020202020204" pitchFamily="34" charset="0"/>
              <a:buChar char="•"/>
            </a:pPr>
            <a:r>
              <a:rPr lang="en-US" sz="1500"/>
              <a:t>The best-performing season can be identified based on average yield and profit.</a:t>
            </a:r>
            <a:endParaRPr lang="en-US" sz="15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2"/>
          <a:stretch>
            <a:fillRect/>
          </a:stretch>
        </p:blipFill>
        <p:spPr>
          <a:xfrm>
            <a:off x="271145" y="1275080"/>
            <a:ext cx="3810000" cy="2517140"/>
          </a:xfrm>
          <a:prstGeom prst="rect">
            <a:avLst/>
          </a:prstGeom>
          <a:effectLst>
            <a:glow rad="63500">
              <a:schemeClr val="accent1">
                <a:satMod val="175000"/>
                <a:alpha val="40000"/>
              </a:schemeClr>
            </a:glow>
          </a:effectLst>
        </p:spPr>
      </p:pic>
      <p:pic>
        <p:nvPicPr>
          <p:cNvPr id="3" name="Picture 2"/>
          <p:cNvPicPr>
            <a:picLocks noChangeAspect="1"/>
          </p:cNvPicPr>
          <p:nvPr/>
        </p:nvPicPr>
        <p:blipFill>
          <a:blip r:embed="rId3"/>
          <a:stretch>
            <a:fillRect/>
          </a:stretch>
        </p:blipFill>
        <p:spPr>
          <a:xfrm>
            <a:off x="4255135" y="1275080"/>
            <a:ext cx="3814445" cy="2519680"/>
          </a:xfrm>
          <a:prstGeom prst="rect">
            <a:avLst/>
          </a:prstGeom>
          <a:effectLst>
            <a:glow rad="63500">
              <a:schemeClr val="accent1">
                <a:satMod val="175000"/>
                <a:alpha val="40000"/>
              </a:schemeClr>
            </a:glow>
          </a:effectLst>
        </p:spPr>
      </p:pic>
      <p:pic>
        <p:nvPicPr>
          <p:cNvPr id="6" name="Picture 5"/>
          <p:cNvPicPr>
            <a:picLocks noChangeAspect="1"/>
          </p:cNvPicPr>
          <p:nvPr/>
        </p:nvPicPr>
        <p:blipFill>
          <a:blip r:embed="rId4"/>
          <a:stretch>
            <a:fillRect/>
          </a:stretch>
        </p:blipFill>
        <p:spPr>
          <a:xfrm>
            <a:off x="8199755" y="1275080"/>
            <a:ext cx="3815080" cy="2520315"/>
          </a:xfrm>
          <a:prstGeom prst="rect">
            <a:avLst/>
          </a:prstGeom>
          <a:effectLst>
            <a:glow rad="63500">
              <a:schemeClr val="accent1">
                <a:satMod val="175000"/>
                <a:alpha val="40000"/>
              </a:schemeClr>
            </a:glow>
          </a:effectLst>
        </p:spPr>
      </p:pic>
      <p:sp>
        <p:nvSpPr>
          <p:cNvPr id="9" name="Text Box 8"/>
          <p:cNvSpPr txBox="1"/>
          <p:nvPr/>
        </p:nvSpPr>
        <p:spPr>
          <a:xfrm>
            <a:off x="477520" y="3987165"/>
            <a:ext cx="4525010" cy="2168525"/>
          </a:xfrm>
          <a:prstGeom prst="rect">
            <a:avLst/>
          </a:prstGeom>
          <a:noFill/>
        </p:spPr>
        <p:txBody>
          <a:bodyPr wrap="square" rtlCol="0" anchor="t">
            <a:spAutoFit/>
          </a:bodyPr>
          <a:p>
            <a:r>
              <a:rPr lang="en-US" sz="1500"/>
              <a:t>Key Observations</a:t>
            </a:r>
            <a:endParaRPr lang="en-US" sz="1500"/>
          </a:p>
          <a:p>
            <a:endParaRPr lang="en-US" sz="1500"/>
          </a:p>
          <a:p>
            <a:pPr marL="285750" indent="-285750">
              <a:buClr>
                <a:srgbClr val="2E946B"/>
              </a:buClr>
              <a:buFont typeface="Arial" panose="020B0604020202020204" pitchFamily="34" charset="0"/>
              <a:buChar char="•"/>
            </a:pPr>
            <a:r>
              <a:rPr lang="en-US" sz="1500"/>
              <a:t>Agricultural performance varies across seasons.</a:t>
            </a:r>
            <a:endParaRPr lang="en-US" sz="1500"/>
          </a:p>
          <a:p>
            <a:pPr marL="285750" indent="-285750">
              <a:buClr>
                <a:srgbClr val="2E946B"/>
              </a:buClr>
              <a:buFont typeface="Arial" panose="020B0604020202020204" pitchFamily="34" charset="0"/>
              <a:buChar char="•"/>
            </a:pPr>
            <a:r>
              <a:rPr lang="en-US" sz="1500"/>
              <a:t>Yield and production show differences between seasonal conditions.</a:t>
            </a:r>
            <a:endParaRPr lang="en-US" sz="1500"/>
          </a:p>
          <a:p>
            <a:pPr marL="285750" indent="-285750">
              <a:buClr>
                <a:srgbClr val="2E946B"/>
              </a:buClr>
              <a:buFont typeface="Arial" panose="020B0604020202020204" pitchFamily="34" charset="0"/>
              <a:buChar char="•"/>
            </a:pPr>
            <a:r>
              <a:rPr lang="en-US" sz="1500"/>
              <a:t>Profitability is influenced by both production and associated costs.</a:t>
            </a:r>
            <a:endParaRPr lang="en-US" sz="1500"/>
          </a:p>
          <a:p>
            <a:pPr marL="285750" indent="-285750">
              <a:buClr>
                <a:srgbClr val="2E946B"/>
              </a:buClr>
              <a:buFont typeface="Arial" panose="020B0604020202020204" pitchFamily="34" charset="0"/>
              <a:buChar char="•"/>
            </a:pPr>
            <a:r>
              <a:rPr lang="en-US" sz="1500"/>
              <a:t>The best-performing season can be identified based on average yield and profit.</a:t>
            </a:r>
            <a:endParaRPr lang="en-US" sz="1500"/>
          </a:p>
        </p:txBody>
      </p:sp>
      <p:pic>
        <p:nvPicPr>
          <p:cNvPr id="16" name="Picture 15"/>
          <p:cNvPicPr>
            <a:picLocks noChangeAspect="1"/>
          </p:cNvPicPr>
          <p:nvPr/>
        </p:nvPicPr>
        <p:blipFill>
          <a:blip r:embed="rId5"/>
          <a:stretch>
            <a:fillRect/>
          </a:stretch>
        </p:blipFill>
        <p:spPr>
          <a:xfrm>
            <a:off x="5565775" y="4220210"/>
            <a:ext cx="6449060" cy="11080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2"/>
          <a:stretch>
            <a:fillRect/>
          </a:stretch>
        </p:blipFill>
        <p:spPr>
          <a:xfrm>
            <a:off x="320675" y="1275080"/>
            <a:ext cx="4585970" cy="2511425"/>
          </a:xfrm>
          <a:prstGeom prst="rect">
            <a:avLst/>
          </a:prstGeom>
          <a:effectLst>
            <a:glow rad="63500">
              <a:schemeClr val="accent1">
                <a:satMod val="175000"/>
                <a:alpha val="40000"/>
              </a:schemeClr>
            </a:glow>
          </a:effectLst>
        </p:spPr>
      </p:pic>
      <p:pic>
        <p:nvPicPr>
          <p:cNvPr id="3" name="Picture 2"/>
          <p:cNvPicPr>
            <a:picLocks noChangeAspect="1"/>
          </p:cNvPicPr>
          <p:nvPr/>
        </p:nvPicPr>
        <p:blipFill>
          <a:blip r:embed="rId3"/>
          <a:stretch>
            <a:fillRect/>
          </a:stretch>
        </p:blipFill>
        <p:spPr>
          <a:xfrm>
            <a:off x="5994400" y="1275080"/>
            <a:ext cx="4585970" cy="2511425"/>
          </a:xfrm>
          <a:prstGeom prst="rect">
            <a:avLst/>
          </a:prstGeom>
          <a:effectLst>
            <a:glow rad="63500">
              <a:schemeClr val="accent1">
                <a:satMod val="175000"/>
                <a:alpha val="40000"/>
              </a:schemeClr>
            </a:glow>
          </a:effectLst>
        </p:spPr>
      </p:pic>
      <p:pic>
        <p:nvPicPr>
          <p:cNvPr id="6" name="Picture 5"/>
          <p:cNvPicPr>
            <a:picLocks noChangeAspect="1"/>
          </p:cNvPicPr>
          <p:nvPr/>
        </p:nvPicPr>
        <p:blipFill>
          <a:blip r:embed="rId4"/>
          <a:stretch>
            <a:fillRect/>
          </a:stretch>
        </p:blipFill>
        <p:spPr>
          <a:xfrm>
            <a:off x="5994400" y="4187190"/>
            <a:ext cx="4751070" cy="2337435"/>
          </a:xfrm>
          <a:prstGeom prst="rect">
            <a:avLst/>
          </a:prstGeom>
          <a:effectLst>
            <a:glow rad="63500">
              <a:schemeClr val="accent1">
                <a:satMod val="175000"/>
                <a:alpha val="40000"/>
              </a:schemeClr>
            </a:glow>
          </a:effectLst>
        </p:spPr>
      </p:pic>
      <p:sp>
        <p:nvSpPr>
          <p:cNvPr id="9" name="Text Box 8"/>
          <p:cNvSpPr txBox="1"/>
          <p:nvPr/>
        </p:nvSpPr>
        <p:spPr>
          <a:xfrm>
            <a:off x="320675" y="4041140"/>
            <a:ext cx="4681855" cy="2168525"/>
          </a:xfrm>
          <a:prstGeom prst="rect">
            <a:avLst/>
          </a:prstGeom>
          <a:noFill/>
        </p:spPr>
        <p:txBody>
          <a:bodyPr wrap="square" rtlCol="0" anchor="t">
            <a:spAutoFit/>
          </a:bodyPr>
          <a:p>
            <a:r>
              <a:rPr lang="en-US" sz="1500"/>
              <a:t>Key Observations</a:t>
            </a:r>
            <a:endParaRPr lang="en-US" sz="1500"/>
          </a:p>
          <a:p>
            <a:endParaRPr lang="en-US" sz="1500"/>
          </a:p>
          <a:p>
            <a:pPr marL="285750" indent="-285750">
              <a:buClr>
                <a:srgbClr val="2E946B"/>
              </a:buClr>
              <a:buFont typeface="Arial" panose="020B0604020202020204" pitchFamily="34" charset="0"/>
              <a:buChar char="•"/>
            </a:pPr>
            <a:r>
              <a:rPr lang="en-US" sz="1500"/>
              <a:t>Water consumption varies across seasons.</a:t>
            </a:r>
            <a:endParaRPr lang="en-US" sz="1500"/>
          </a:p>
          <a:p>
            <a:pPr marL="285750" indent="-285750">
              <a:buClr>
                <a:srgbClr val="2E946B"/>
              </a:buClr>
              <a:buFont typeface="Arial" panose="020B0604020202020204" pitchFamily="34" charset="0"/>
              <a:buChar char="•"/>
            </a:pPr>
            <a:r>
              <a:rPr lang="en-US" sz="1500"/>
              <a:t>Water efficiency provides a better measure of resource utilization than water usage alone.</a:t>
            </a:r>
            <a:endParaRPr lang="en-US" sz="1500"/>
          </a:p>
          <a:p>
            <a:pPr marL="285750" indent="-285750">
              <a:buClr>
                <a:srgbClr val="2E946B"/>
              </a:buClr>
              <a:buFont typeface="Arial" panose="020B0604020202020204" pitchFamily="34" charset="0"/>
              <a:buChar char="•"/>
            </a:pPr>
            <a:r>
              <a:rPr lang="en-US" sz="1500"/>
              <a:t>Different irrigation methods can produce different levels of yield and water efficiency.</a:t>
            </a:r>
            <a:endParaRPr lang="en-US" sz="1500"/>
          </a:p>
          <a:p>
            <a:pPr marL="285750" indent="-285750">
              <a:buClr>
                <a:srgbClr val="2E946B"/>
              </a:buClr>
              <a:buFont typeface="Arial" panose="020B0604020202020204" pitchFamily="34" charset="0"/>
              <a:buChar char="•"/>
            </a:pPr>
            <a:r>
              <a:rPr lang="en-US" sz="1500"/>
              <a:t>Identifying efficient irrigation practices can support sustainable agricultural planning.</a:t>
            </a:r>
            <a:endParaRPr lang="en-US" sz="15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2"/>
          <a:stretch>
            <a:fillRect/>
          </a:stretch>
        </p:blipFill>
        <p:spPr>
          <a:xfrm>
            <a:off x="789940" y="1275080"/>
            <a:ext cx="5024120" cy="2981960"/>
          </a:xfrm>
          <a:prstGeom prst="rect">
            <a:avLst/>
          </a:prstGeom>
          <a:effectLst>
            <a:glow rad="63500">
              <a:schemeClr val="accent1">
                <a:satMod val="175000"/>
                <a:alpha val="40000"/>
              </a:schemeClr>
            </a:glow>
          </a:effectLst>
        </p:spPr>
      </p:pic>
      <p:pic>
        <p:nvPicPr>
          <p:cNvPr id="3" name="Picture 2"/>
          <p:cNvPicPr>
            <a:picLocks noChangeAspect="1"/>
          </p:cNvPicPr>
          <p:nvPr/>
        </p:nvPicPr>
        <p:blipFill>
          <a:blip r:embed="rId3"/>
          <a:stretch>
            <a:fillRect/>
          </a:stretch>
        </p:blipFill>
        <p:spPr>
          <a:xfrm>
            <a:off x="6217285" y="1275080"/>
            <a:ext cx="4836160" cy="2985770"/>
          </a:xfrm>
          <a:prstGeom prst="rect">
            <a:avLst/>
          </a:prstGeom>
          <a:effectLst>
            <a:glow rad="63500">
              <a:schemeClr val="accent1">
                <a:satMod val="175000"/>
                <a:alpha val="40000"/>
              </a:schemeClr>
            </a:glow>
          </a:effectLst>
        </p:spPr>
      </p:pic>
      <p:sp>
        <p:nvSpPr>
          <p:cNvPr id="6" name="Text Box 5"/>
          <p:cNvSpPr txBox="1"/>
          <p:nvPr/>
        </p:nvSpPr>
        <p:spPr>
          <a:xfrm>
            <a:off x="789940" y="4330700"/>
            <a:ext cx="5076190" cy="2399665"/>
          </a:xfrm>
          <a:prstGeom prst="rect">
            <a:avLst/>
          </a:prstGeom>
          <a:noFill/>
        </p:spPr>
        <p:txBody>
          <a:bodyPr wrap="square" rtlCol="0" anchor="t">
            <a:spAutoFit/>
          </a:bodyPr>
          <a:p>
            <a:r>
              <a:rPr lang="en-US" sz="1500"/>
              <a:t>Key Observations</a:t>
            </a:r>
            <a:endParaRPr lang="en-US" sz="1500"/>
          </a:p>
          <a:p>
            <a:endParaRPr lang="en-US" sz="1500"/>
          </a:p>
          <a:p>
            <a:pPr marL="285750" indent="-285750">
              <a:buClr>
                <a:srgbClr val="2E946B"/>
              </a:buClr>
              <a:buFont typeface="Arial" panose="020B0604020202020204" pitchFamily="34" charset="0"/>
              <a:buChar char="•"/>
            </a:pPr>
            <a:r>
              <a:rPr lang="en-US" sz="1500"/>
              <a:t>Economic performance differs across seasons and crops.</a:t>
            </a:r>
            <a:endParaRPr lang="en-US" sz="1500"/>
          </a:p>
          <a:p>
            <a:pPr marL="285750" indent="-285750">
              <a:buClr>
                <a:srgbClr val="2E946B"/>
              </a:buClr>
              <a:buFont typeface="Arial" panose="020B0604020202020204" pitchFamily="34" charset="0"/>
              <a:buChar char="•"/>
            </a:pPr>
            <a:r>
              <a:rPr lang="en-US" sz="1500"/>
              <a:t>Higher production does not necessarily guarantee higher profitability.</a:t>
            </a:r>
            <a:endParaRPr lang="en-US" sz="1500"/>
          </a:p>
          <a:p>
            <a:pPr marL="285750" indent="-285750">
              <a:buClr>
                <a:srgbClr val="2E946B"/>
              </a:buClr>
              <a:buFont typeface="Arial" panose="020B0604020202020204" pitchFamily="34" charset="0"/>
              <a:buChar char="•"/>
            </a:pPr>
            <a:r>
              <a:rPr lang="en-US" sz="1500"/>
              <a:t>Profit depends on the relationship between revenue and total production cost.</a:t>
            </a:r>
            <a:endParaRPr lang="en-US" sz="1500"/>
          </a:p>
          <a:p>
            <a:pPr marL="285750" indent="-285750">
              <a:buClr>
                <a:srgbClr val="2E946B"/>
              </a:buClr>
              <a:buFont typeface="Arial" panose="020B0604020202020204" pitchFamily="34" charset="0"/>
              <a:buChar char="•"/>
            </a:pPr>
            <a:r>
              <a:rPr lang="en-US" sz="1500"/>
              <a:t>Profit margin provides an additional measure of economic efficiency.</a:t>
            </a:r>
            <a:endParaRPr lang="en-US" sz="1500"/>
          </a:p>
        </p:txBody>
      </p:sp>
      <p:sp>
        <p:nvSpPr>
          <p:cNvPr id="9" name="Text Box 8"/>
          <p:cNvSpPr txBox="1"/>
          <p:nvPr/>
        </p:nvSpPr>
        <p:spPr>
          <a:xfrm>
            <a:off x="6561455" y="4677410"/>
            <a:ext cx="4147820" cy="1706880"/>
          </a:xfrm>
          <a:prstGeom prst="rect">
            <a:avLst/>
          </a:prstGeom>
          <a:noFill/>
        </p:spPr>
        <p:txBody>
          <a:bodyPr wrap="square" rtlCol="0" anchor="t">
            <a:spAutoFit/>
          </a:bodyPr>
          <a:p>
            <a:pPr marL="285750" indent="-285750">
              <a:buClr>
                <a:srgbClr val="2E946B"/>
              </a:buClr>
              <a:buFont typeface="Arial" panose="020B0604020202020204" pitchFamily="34" charset="0"/>
              <a:buChar char="•"/>
            </a:pPr>
            <a:r>
              <a:rPr lang="en-US" sz="1500"/>
              <a:t>Total Farms: 4000</a:t>
            </a:r>
            <a:endParaRPr lang="en-US" sz="1500"/>
          </a:p>
          <a:p>
            <a:pPr marL="285750" indent="-285750">
              <a:buClr>
                <a:srgbClr val="2E946B"/>
              </a:buClr>
              <a:buFont typeface="Arial" panose="020B0604020202020204" pitchFamily="34" charset="0"/>
              <a:buChar char="•"/>
            </a:pPr>
            <a:endParaRPr lang="en-US" sz="1500"/>
          </a:p>
          <a:p>
            <a:pPr marL="285750" indent="-285750">
              <a:buClr>
                <a:srgbClr val="2E946B"/>
              </a:buClr>
              <a:buFont typeface="Arial" panose="020B0604020202020204" pitchFamily="34" charset="0"/>
              <a:buChar char="•"/>
            </a:pPr>
            <a:r>
              <a:rPr lang="en-US" sz="1500"/>
              <a:t>Most Profitable Season: Kharif</a:t>
            </a:r>
            <a:endParaRPr lang="en-US" sz="1500"/>
          </a:p>
          <a:p>
            <a:pPr marL="285750" indent="-285750">
              <a:buClr>
                <a:srgbClr val="2E946B"/>
              </a:buClr>
              <a:buFont typeface="Arial" panose="020B0604020202020204" pitchFamily="34" charset="0"/>
              <a:buChar char="•"/>
            </a:pPr>
            <a:endParaRPr lang="en-US" sz="1500"/>
          </a:p>
          <a:p>
            <a:pPr marL="285750" indent="-285750">
              <a:buClr>
                <a:srgbClr val="2E946B"/>
              </a:buClr>
              <a:buFont typeface="Arial" panose="020B0604020202020204" pitchFamily="34" charset="0"/>
              <a:buChar char="•"/>
            </a:pPr>
            <a:r>
              <a:rPr lang="en-US" sz="1500"/>
              <a:t>Most Profitable Crop: Sugarcane</a:t>
            </a:r>
            <a:endParaRPr lang="en-US" sz="1500"/>
          </a:p>
          <a:p>
            <a:pPr marL="285750" indent="-285750">
              <a:buClr>
                <a:srgbClr val="2E946B"/>
              </a:buClr>
              <a:buFont typeface="Arial" panose="020B0604020202020204" pitchFamily="34" charset="0"/>
              <a:buChar char="•"/>
            </a:pPr>
            <a:endParaRPr lang="en-US" sz="1500"/>
          </a:p>
          <a:p>
            <a:pPr marL="285750" indent="-285750">
              <a:buClr>
                <a:srgbClr val="2E946B"/>
              </a:buClr>
              <a:buFont typeface="Arial" panose="020B0604020202020204" pitchFamily="34" charset="0"/>
              <a:buChar char="•"/>
            </a:pPr>
            <a:r>
              <a:rPr lang="en-US" sz="1500"/>
              <a:t>Loss-Making Farms: 1966</a:t>
            </a:r>
            <a:endParaRPr lang="en-US" sz="15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p:cNvPicPr>
            <a:picLocks noChangeAspect="1"/>
          </p:cNvPicPr>
          <p:nvPr/>
        </p:nvPicPr>
        <p:blipFill>
          <a:blip r:embed="rId2"/>
          <a:stretch>
            <a:fillRect/>
          </a:stretch>
        </p:blipFill>
        <p:spPr>
          <a:xfrm>
            <a:off x="1143635" y="1410970"/>
            <a:ext cx="5142865" cy="3052445"/>
          </a:xfrm>
          <a:prstGeom prst="rect">
            <a:avLst/>
          </a:prstGeom>
          <a:effectLst>
            <a:glow rad="63500">
              <a:schemeClr val="accent1">
                <a:satMod val="175000"/>
                <a:alpha val="40000"/>
              </a:schemeClr>
            </a:glow>
          </a:effectLst>
        </p:spPr>
      </p:pic>
      <p:pic>
        <p:nvPicPr>
          <p:cNvPr id="9" name="Picture 8"/>
          <p:cNvPicPr>
            <a:picLocks noChangeAspect="1"/>
          </p:cNvPicPr>
          <p:nvPr/>
        </p:nvPicPr>
        <p:blipFill>
          <a:blip r:embed="rId3"/>
          <a:stretch>
            <a:fillRect/>
          </a:stretch>
        </p:blipFill>
        <p:spPr>
          <a:xfrm>
            <a:off x="6531610" y="1421130"/>
            <a:ext cx="4798695" cy="3042285"/>
          </a:xfrm>
          <a:prstGeom prst="rect">
            <a:avLst/>
          </a:prstGeom>
          <a:effectLst>
            <a:glow rad="63500">
              <a:schemeClr val="accent1">
                <a:satMod val="175000"/>
                <a:alpha val="40000"/>
              </a:schemeClr>
            </a:glow>
          </a:effectLst>
        </p:spPr>
      </p:pic>
      <p:sp>
        <p:nvSpPr>
          <p:cNvPr id="11" name="Text Box 10"/>
          <p:cNvSpPr txBox="1"/>
          <p:nvPr/>
        </p:nvSpPr>
        <p:spPr>
          <a:xfrm>
            <a:off x="675640" y="4672965"/>
            <a:ext cx="6368415" cy="1614805"/>
          </a:xfrm>
          <a:prstGeom prst="rect">
            <a:avLst/>
          </a:prstGeom>
          <a:noFill/>
        </p:spPr>
        <p:txBody>
          <a:bodyPr wrap="square" rtlCol="0">
            <a:spAutoFit/>
          </a:bodyPr>
          <a:p>
            <a:pPr algn="l">
              <a:lnSpc>
                <a:spcPct val="110000"/>
              </a:lnSpc>
            </a:pPr>
            <a:r>
              <a:rPr lang="en-US" sz="1500"/>
              <a:t>Key Observations</a:t>
            </a:r>
            <a:endParaRPr lang="en-US" sz="1500"/>
          </a:p>
          <a:p>
            <a:pPr marL="285750" indent="-285750" algn="l">
              <a:lnSpc>
                <a:spcPct val="110000"/>
              </a:lnSpc>
              <a:buClr>
                <a:srgbClr val="2E946B"/>
              </a:buClr>
              <a:buFont typeface="Arial" panose="020B0604020202020204" pitchFamily="34" charset="0"/>
              <a:buChar char="•"/>
            </a:pPr>
            <a:r>
              <a:rPr lang="en-US" sz="1500"/>
              <a:t>Crop productivity varies across different crops.</a:t>
            </a:r>
            <a:endParaRPr lang="en-US" sz="1500"/>
          </a:p>
          <a:p>
            <a:pPr marL="285750" indent="-285750" algn="l">
              <a:lnSpc>
                <a:spcPct val="110000"/>
              </a:lnSpc>
              <a:buClr>
                <a:srgbClr val="2E946B"/>
              </a:buClr>
              <a:buFont typeface="Arial" panose="020B0604020202020204" pitchFamily="34" charset="0"/>
              <a:buChar char="•"/>
            </a:pPr>
            <a:r>
              <a:rPr lang="en-US" sz="1500"/>
              <a:t>Regional differences can be observed in agricultural performance.</a:t>
            </a:r>
            <a:endParaRPr lang="en-US" sz="1500"/>
          </a:p>
          <a:p>
            <a:pPr marL="285750" indent="-285750" algn="l">
              <a:lnSpc>
                <a:spcPct val="110000"/>
              </a:lnSpc>
              <a:buClr>
                <a:srgbClr val="2E946B"/>
              </a:buClr>
              <a:buFont typeface="Arial" panose="020B0604020202020204" pitchFamily="34" charset="0"/>
              <a:buChar char="•"/>
            </a:pPr>
            <a:r>
              <a:rPr lang="en-US" sz="1500"/>
              <a:t>Some crops may perform better under particular seasonal conditions.</a:t>
            </a:r>
            <a:endParaRPr lang="en-US" sz="1500"/>
          </a:p>
          <a:p>
            <a:pPr marL="285750" indent="-285750" algn="l">
              <a:lnSpc>
                <a:spcPct val="110000"/>
              </a:lnSpc>
              <a:buClr>
                <a:srgbClr val="2E946B"/>
              </a:buClr>
              <a:buFont typeface="Arial" panose="020B0604020202020204" pitchFamily="34" charset="0"/>
              <a:buChar char="•"/>
            </a:pPr>
            <a:r>
              <a:rPr lang="en-US" sz="1500"/>
              <a:t>Comparing crops across seasons helps identify suitable crop-season combinations.</a:t>
            </a:r>
            <a:endParaRPr lang="en-US" sz="15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4735798" cy="830997"/>
          </a:xfrm>
        </p:spPr>
        <p:txBody>
          <a:bodyPr>
            <a:normAutofit/>
          </a:bodyPr>
          <a:lstStyle/>
          <a:p>
            <a:r>
              <a:rPr lang="en-IN" sz="4000" dirty="0"/>
              <a:t>Future scope</a:t>
            </a:r>
            <a:endParaRPr lang="en-IN" sz="40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Box 1"/>
          <p:cNvSpPr txBox="1"/>
          <p:nvPr/>
        </p:nvSpPr>
        <p:spPr>
          <a:xfrm>
            <a:off x="732155" y="1094740"/>
            <a:ext cx="9686925" cy="4794250"/>
          </a:xfrm>
          <a:prstGeom prst="rect">
            <a:avLst/>
          </a:prstGeom>
          <a:noFill/>
        </p:spPr>
        <p:txBody>
          <a:bodyPr wrap="square" rtlCol="0" anchor="t">
            <a:spAutoFit/>
          </a:bodyPr>
          <a:p>
            <a:pPr marL="285750" indent="-285750">
              <a:lnSpc>
                <a:spcPct val="120000"/>
              </a:lnSpc>
              <a:buClr>
                <a:srgbClr val="2E946B"/>
              </a:buClr>
              <a:buFont typeface="Arial" panose="020B0604020202020204" pitchFamily="34" charset="0"/>
              <a:buChar char="•"/>
            </a:pPr>
            <a:r>
              <a:rPr lang="en-US" sz="1700" b="1"/>
              <a:t>Weather Forecast Integration :</a:t>
            </a:r>
            <a:endParaRPr lang="en-US" sz="1700" b="1"/>
          </a:p>
          <a:p>
            <a:pPr lvl="1" indent="0">
              <a:lnSpc>
                <a:spcPct val="120000"/>
              </a:lnSpc>
              <a:buFont typeface="Arial" panose="020B0604020202020204" pitchFamily="34" charset="0"/>
              <a:buNone/>
            </a:pPr>
            <a:r>
              <a:rPr lang="en-US" sz="1700"/>
              <a:t>Integrate real-time and historical weather data to improve seasonal agricultural predictions.</a:t>
            </a:r>
            <a:endParaRPr lang="en-US" sz="1700"/>
          </a:p>
          <a:p>
            <a:pPr marL="285750" indent="-285750">
              <a:lnSpc>
                <a:spcPct val="120000"/>
              </a:lnSpc>
              <a:buClr>
                <a:srgbClr val="2E946B"/>
              </a:buClr>
              <a:buFont typeface="Arial" panose="020B0604020202020204" pitchFamily="34" charset="0"/>
              <a:buChar char="•"/>
            </a:pPr>
            <a:r>
              <a:rPr lang="en-US" sz="1700" b="1"/>
              <a:t>Crop Yield Prediction :</a:t>
            </a:r>
            <a:endParaRPr lang="en-US" sz="1700" b="1"/>
          </a:p>
          <a:p>
            <a:pPr lvl="1" indent="0">
              <a:lnSpc>
                <a:spcPct val="120000"/>
              </a:lnSpc>
              <a:buFont typeface="Arial" panose="020B0604020202020204" pitchFamily="34" charset="0"/>
              <a:buNone/>
            </a:pPr>
            <a:r>
              <a:rPr lang="en-US" sz="1700"/>
              <a:t>Develop advanced machine-learning models to predict crop yield based on environmental and farming conditions.</a:t>
            </a:r>
            <a:endParaRPr lang="en-US" sz="1700"/>
          </a:p>
          <a:p>
            <a:pPr marL="285750" indent="-285750">
              <a:lnSpc>
                <a:spcPct val="120000"/>
              </a:lnSpc>
              <a:buClr>
                <a:srgbClr val="2E946B"/>
              </a:buClr>
              <a:buFont typeface="Arial" panose="020B0604020202020204" pitchFamily="34" charset="0"/>
              <a:buChar char="•"/>
            </a:pPr>
            <a:r>
              <a:rPr lang="en-US" sz="1700" b="1"/>
              <a:t>Smart Irrigation :</a:t>
            </a:r>
            <a:endParaRPr lang="en-US" sz="1700" b="1"/>
          </a:p>
          <a:p>
            <a:pPr lvl="1" indent="0">
              <a:lnSpc>
                <a:spcPct val="120000"/>
              </a:lnSpc>
              <a:buFont typeface="Arial" panose="020B0604020202020204" pitchFamily="34" charset="0"/>
              <a:buNone/>
            </a:pPr>
            <a:r>
              <a:rPr lang="en-US" sz="1700"/>
              <a:t>Use sensor and IoT data to optimize irrigation and reduce unnecessary water consumption.</a:t>
            </a:r>
            <a:endParaRPr lang="en-US" sz="1700"/>
          </a:p>
          <a:p>
            <a:pPr marL="285750" indent="-285750">
              <a:lnSpc>
                <a:spcPct val="120000"/>
              </a:lnSpc>
              <a:buClr>
                <a:srgbClr val="2E946B"/>
              </a:buClr>
              <a:buFont typeface="Arial" panose="020B0604020202020204" pitchFamily="34" charset="0"/>
              <a:buChar char="•"/>
            </a:pPr>
            <a:r>
              <a:rPr lang="en-US" sz="1700" b="1"/>
              <a:t>Regional Recommendation System :</a:t>
            </a:r>
            <a:endParaRPr lang="en-US" sz="1700" b="1"/>
          </a:p>
          <a:p>
            <a:pPr lvl="1" indent="0">
              <a:lnSpc>
                <a:spcPct val="120000"/>
              </a:lnSpc>
              <a:buFont typeface="Arial" panose="020B0604020202020204" pitchFamily="34" charset="0"/>
              <a:buNone/>
            </a:pPr>
            <a:r>
              <a:rPr lang="en-US" sz="1700"/>
              <a:t>Develop a system that recommends suitable crops based on region, season, soil, and environmental conditions.</a:t>
            </a:r>
            <a:endParaRPr lang="en-US" sz="1700"/>
          </a:p>
          <a:p>
            <a:pPr marL="285750" indent="-285750">
              <a:lnSpc>
                <a:spcPct val="120000"/>
              </a:lnSpc>
              <a:buClr>
                <a:srgbClr val="2E946B"/>
              </a:buClr>
              <a:buFont typeface="Arial" panose="020B0604020202020204" pitchFamily="34" charset="0"/>
              <a:buChar char="•"/>
            </a:pPr>
            <a:r>
              <a:rPr lang="en-US" sz="1700" b="1"/>
              <a:t>Real-Time Agricultural Dashboard :</a:t>
            </a:r>
            <a:endParaRPr lang="en-US" sz="1700" b="1"/>
          </a:p>
          <a:p>
            <a:pPr lvl="1" indent="0">
              <a:lnSpc>
                <a:spcPct val="120000"/>
              </a:lnSpc>
              <a:buFont typeface="Arial" panose="020B0604020202020204" pitchFamily="34" charset="0"/>
              <a:buNone/>
            </a:pPr>
            <a:r>
              <a:rPr lang="en-US" sz="1700"/>
              <a:t>Create an interactive dashboard using Power BI / Tableau / Streamlit for real-time monitoring.</a:t>
            </a:r>
            <a:endParaRPr lang="en-US" sz="1700"/>
          </a:p>
          <a:p>
            <a:pPr marL="285750" indent="-285750">
              <a:lnSpc>
                <a:spcPct val="120000"/>
              </a:lnSpc>
              <a:buClr>
                <a:srgbClr val="2E946B"/>
              </a:buClr>
              <a:buFont typeface="Arial" panose="020B0604020202020204" pitchFamily="34" charset="0"/>
              <a:buChar char="•"/>
            </a:pPr>
            <a:r>
              <a:rPr lang="en-US" sz="1700" b="1"/>
              <a:t>Advanced Machine Learning :</a:t>
            </a:r>
            <a:endParaRPr lang="en-US" sz="1700" b="1"/>
          </a:p>
          <a:p>
            <a:pPr lvl="1" indent="0">
              <a:lnSpc>
                <a:spcPct val="120000"/>
              </a:lnSpc>
              <a:buFont typeface="Arial" panose="020B0604020202020204" pitchFamily="34" charset="0"/>
              <a:buNone/>
            </a:pPr>
            <a:r>
              <a:rPr lang="en-US" sz="1700"/>
              <a:t>Use models such as XGBoost, Random Forest, and neural networks for improved prediction.</a:t>
            </a:r>
            <a:endParaRPr lang="en-US" sz="17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4735798" cy="830997"/>
          </a:xfrm>
        </p:spPr>
        <p:txBody>
          <a:bodyPr>
            <a:normAutofit/>
          </a:bodyPr>
          <a:lstStyle/>
          <a:p>
            <a:r>
              <a:rPr lang="en-IN" sz="4000" dirty="0"/>
              <a:t>GitHub Link</a:t>
            </a:r>
            <a:endParaRPr lang="en-IN" sz="40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p:cNvSpPr txBox="1"/>
          <p:nvPr/>
        </p:nvSpPr>
        <p:spPr>
          <a:xfrm>
            <a:off x="675916" y="2014995"/>
            <a:ext cx="7232875" cy="368300"/>
          </a:xfrm>
          <a:prstGeom prst="rect">
            <a:avLst/>
          </a:prstGeom>
          <a:noFill/>
        </p:spPr>
        <p:txBody>
          <a:bodyPr wrap="square">
            <a:spAutoFit/>
          </a:bodyPr>
          <a:lstStyle/>
          <a:p>
            <a:r>
              <a:rPr lang="en-US" dirty="0">
                <a:hlinkClick r:id="rId2" tooltip="" action="ppaction://hlinkfile"/>
              </a:rPr>
              <a:t>https://github.com/deba-biswas/seasonal-agriculture-analysis.git</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rotWithShape="1">
          <a:blip r:embed="rId1"/>
          <a:srcRect t="96181"/>
          <a:stretch>
            <a:fillRect/>
          </a:stretch>
        </p:blipFill>
        <p:spPr>
          <a:xfrm>
            <a:off x="675957" y="6471920"/>
            <a:ext cx="2143125" cy="193040"/>
          </a:xfrm>
          <a:prstGeom prst="rect">
            <a:avLst/>
          </a:prstGeom>
        </p:spPr>
      </p:pic>
      <p:sp>
        <p:nvSpPr>
          <p:cNvPr id="4" name="Title 3"/>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a:t>
            </a:r>
            <a:r>
              <a:rPr lang="en-US" altLang="en-IN" sz="3200" dirty="0"/>
              <a:t> </a:t>
            </a:r>
            <a:r>
              <a:rPr lang="en-IN" sz="3200" dirty="0"/>
              <a:t>- Data Visualization </a:t>
            </a:r>
            <a:endParaRPr lang="en-IN" sz="3200" dirty="0"/>
          </a:p>
        </p:txBody>
      </p:sp>
      <p:sp>
        <p:nvSpPr>
          <p:cNvPr id="7" name="Text Placeholder 30"/>
          <p:cNvSpPr txBox="1"/>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p:cNvSpPr txBox="1"/>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panose="05040102010807070707"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panose="05040102010807070707"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panose="05040102010807070707"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p:cNvPicPr>
            <a:picLocks noChangeAspect="1"/>
          </p:cNvPicPr>
          <p:nvPr/>
        </p:nvPicPr>
        <p:blipFill>
          <a:blip r:embed="rId2"/>
          <a:stretch>
            <a:fillRect/>
          </a:stretch>
        </p:blipFill>
        <p:spPr>
          <a:xfrm>
            <a:off x="1681480" y="1397635"/>
            <a:ext cx="7265670" cy="51403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08150" y="2571750"/>
            <a:ext cx="11340000" cy="700114"/>
          </a:xfrm>
          <a:prstGeom prst="rect">
            <a:avLst/>
          </a:prstGeom>
        </p:spPr>
        <p:txBody>
          <a:bodyPr anchor="ctr">
            <a:normAutofit fontScale="90000"/>
          </a:bodyPr>
          <a:lstStyle/>
          <a:p>
            <a:pPr algn="ctr"/>
            <a:r>
              <a:rPr lang="en-US" sz="6000" b="1" dirty="0">
                <a:solidFill>
                  <a:schemeClr val="tx1"/>
                </a:solidFill>
              </a:rPr>
              <a:t>Thank you</a:t>
            </a:r>
            <a:endParaRPr lang="en-US" sz="6000" b="1" dirty="0">
              <a:solidFill>
                <a:schemeClr val="tx1"/>
              </a:solidFill>
            </a:endParaRPr>
          </a:p>
        </p:txBody>
      </p:sp>
      <p:pic>
        <p:nvPicPr>
          <p:cNvPr id="15" name="Picture 14"/>
          <p:cNvPicPr>
            <a:picLocks noChangeAspect="1"/>
          </p:cNvPicPr>
          <p:nvPr/>
        </p:nvPicPr>
        <p:blipFill rotWithShape="1">
          <a:blip r:embed="rId1"/>
          <a:srcRect t="96181"/>
          <a:stretch>
            <a:fillRect/>
          </a:stretch>
        </p:blipFill>
        <p:spPr>
          <a:xfrm>
            <a:off x="684847" y="6480810"/>
            <a:ext cx="2143125" cy="193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0</TotalTime>
  <Words>5303</Words>
  <Application>WPS Presentation</Application>
  <PresentationFormat>Widescreen</PresentationFormat>
  <Paragraphs>141</Paragraphs>
  <Slides>14</Slides>
  <Notes>1</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14</vt:i4>
      </vt:variant>
    </vt:vector>
  </HeadingPairs>
  <TitlesOfParts>
    <vt:vector size="28" baseType="lpstr">
      <vt:lpstr>Arial</vt:lpstr>
      <vt:lpstr>SimSun</vt:lpstr>
      <vt:lpstr>Wingdings</vt:lpstr>
      <vt:lpstr>Wingdings 3</vt:lpstr>
      <vt:lpstr>Arial</vt:lpstr>
      <vt:lpstr>Calibri</vt:lpstr>
      <vt:lpstr>Trebuchet MS</vt:lpstr>
      <vt:lpstr>Microsoft YaHei</vt:lpstr>
      <vt:lpstr>Droid Sans Fallback</vt:lpstr>
      <vt:lpstr>Arial Unicode MS</vt:lpstr>
      <vt:lpstr>Noto Color Emoji</vt:lpstr>
      <vt:lpstr>Cambria</vt:lpstr>
      <vt:lpstr>Wingdings</vt:lpstr>
      <vt:lpstr>Facet</vt:lpstr>
      <vt:lpstr>Project Title -</vt:lpstr>
      <vt:lpstr>PROBLEM  STATEMENT</vt:lpstr>
      <vt:lpstr>Project Description [write detail description about your project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deba</cp:lastModifiedBy>
  <cp:revision>99</cp:revision>
  <dcterms:created xsi:type="dcterms:W3CDTF">2026-09-09T15:09:25Z</dcterms:created>
  <dcterms:modified xsi:type="dcterms:W3CDTF">2026-09-09T15:09:25Z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
  </property>
  <property fmtid="{D5CDD505-2E9C-101B-9397-08002B2CF9AE}" pid="4" name="KSOProductBuildVer">
    <vt:lpwstr>1033-11.1.0.11723</vt:lpwstr>
  </property>
</Properties>
</file>